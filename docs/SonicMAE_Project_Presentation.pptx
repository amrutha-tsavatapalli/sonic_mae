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0" y="822960"/>
            <a:ext cx="3840480" cy="365760"/>
          </a:xfrm>
          <a:prstGeom prst="roundRect">
            <a:avLst/>
          </a:prstGeom>
          <a:solidFill>
            <a:srgbClr val="1E293B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6B6D4"/>
                </a:solidFill>
              </a:defRPr>
            </a:pPr>
            <a:r>
              <a:t>DEEP LEARNING CAPSTONE &amp; DEFENSE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SONIC-MAE</a:t>
            </a:r>
          </a:p>
          <a:p>
            <a:pPr>
              <a:spcBef>
                <a:spcPts val="800"/>
              </a:spcBef>
              <a:defRPr sz="1800" b="1">
                <a:solidFill>
                  <a:srgbClr val="06B6D4"/>
                </a:solidFill>
              </a:defRPr>
            </a:pPr>
            <a:r>
              <a:t>Self-Supervised Masked Acoustic Autoencoders with Phase-Preserving Augmentations &amp; Conformer Attention for Zero-Shot Industrial Machine Diagnostics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10332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94A3B8"/>
                </a:solidFill>
              </a:defRPr>
            </a:pPr>
            <a:r>
              <a:t>Unsupervised Anomalous Sound Detection (ASD) for Industry 4.0 Acoustic Predictive Maintenance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3749039"/>
            <a:ext cx="3246120" cy="2468880"/>
          </a:xfrm>
          <a:prstGeom prst="roundRect">
            <a:avLst/>
          </a:prstGeom>
          <a:solidFill>
            <a:srgbClr val="182136"/>
          </a:solidFill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3913631"/>
            <a:ext cx="28803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06B6D4"/>
                </a:solidFill>
              </a:defRPr>
            </a:pPr>
            <a:r>
              <a:t>PERSON 1  •  Team Member 1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b="1" sz="1100">
                <a:solidFill>
                  <a:srgbClr val="FFFFFF"/>
                </a:solidFill>
              </a:defRPr>
            </a:pPr>
            <a:r>
              <a:t>Preprocessing, DSP &amp; Audio Engineering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b="1" sz="1000">
                <a:solidFill>
                  <a:srgbClr val="06B6D4"/>
                </a:solidFill>
              </a:rPr>
              <a:t>▸ </a:t>
            </a:r>
            <a:r>
              <a:rPr b="0" sz="1000">
                <a:solidFill>
                  <a:srgbClr val="E2E8F0"/>
                </a:solidFill>
              </a:rPr>
              <a:t>16 kHz Multi-Channel Audio Ingestion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b="1" sz="1000">
                <a:solidFill>
                  <a:srgbClr val="06B6D4"/>
                </a:solidFill>
              </a:rPr>
              <a:t>▸ </a:t>
            </a:r>
            <a:r>
              <a:rPr b="0" sz="1000">
                <a:solidFill>
                  <a:srgbClr val="E2E8F0"/>
                </a:solidFill>
              </a:rPr>
              <a:t>Log-Mel Spectrogram Transformation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b="1" sz="1000">
                <a:solidFill>
                  <a:srgbClr val="06B6D4"/>
                </a:solidFill>
              </a:rPr>
              <a:t>▸ </a:t>
            </a:r>
            <a:r>
              <a:rPr b="0" sz="1000">
                <a:solidFill>
                  <a:srgbClr val="E2E8F0"/>
                </a:solidFill>
              </a:rPr>
              <a:t>Novel Coherent Phase Scrambler (CSPS)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b="1" sz="1000">
                <a:solidFill>
                  <a:srgbClr val="06B6D4"/>
                </a:solidFill>
              </a:rPr>
              <a:t>▸ </a:t>
            </a:r>
            <a:r>
              <a:rPr b="0" sz="1000">
                <a:solidFill>
                  <a:srgbClr val="E2E8F0"/>
                </a:solidFill>
              </a:rPr>
              <a:t>Leakage-Free Industrial Splits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62272" y="3749039"/>
            <a:ext cx="3246120" cy="2468880"/>
          </a:xfrm>
          <a:prstGeom prst="roundRect">
            <a:avLst/>
          </a:prstGeom>
          <a:solidFill>
            <a:srgbClr val="182136"/>
          </a:solidFill>
          <a:ln w="1524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45152" y="3913631"/>
            <a:ext cx="28803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3B82F6"/>
                </a:solidFill>
              </a:defRPr>
            </a:pPr>
            <a:r>
              <a:t>PERSON 2  •  Team Member 2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b="1" sz="1100">
                <a:solidFill>
                  <a:srgbClr val="FFFFFF"/>
                </a:solidFill>
              </a:defRPr>
            </a:pPr>
            <a:r>
              <a:t>Neural Architectures &amp; Masked Modeling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b="1" sz="1000">
                <a:solidFill>
                  <a:srgbClr val="3B82F6"/>
                </a:solidFill>
              </a:rPr>
              <a:t>▸ </a:t>
            </a:r>
            <a:r>
              <a:rPr b="0" sz="1000">
                <a:solidFill>
                  <a:srgbClr val="E2E8F0"/>
                </a:solidFill>
              </a:rPr>
              <a:t>Structured Time-Frequency Patch Masking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b="1" sz="1000">
                <a:solidFill>
                  <a:srgbClr val="3B82F6"/>
                </a:solidFill>
              </a:rPr>
              <a:t>▸ </a:t>
            </a:r>
            <a:r>
              <a:rPr b="0" sz="1000">
                <a:solidFill>
                  <a:srgbClr val="E2E8F0"/>
                </a:solidFill>
              </a:rPr>
              <a:t>SonicConformerMAE Attention Backbone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b="1" sz="1000">
                <a:solidFill>
                  <a:srgbClr val="3B82F6"/>
                </a:solidFill>
              </a:rPr>
              <a:t>▸ </a:t>
            </a:r>
            <a:r>
              <a:rPr b="0" sz="1000">
                <a:solidFill>
                  <a:srgbClr val="E2E8F0"/>
                </a:solidFill>
              </a:rPr>
              <a:t>Self-Supervised Reconstruction Dynamics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b="1" sz="1000">
                <a:solidFill>
                  <a:srgbClr val="3B82F6"/>
                </a:solidFill>
              </a:rPr>
              <a:t>▸ </a:t>
            </a:r>
            <a:r>
              <a:rPr b="0" sz="1000">
                <a:solidFill>
                  <a:srgbClr val="E2E8F0"/>
                </a:solidFill>
              </a:rPr>
              <a:t>Spectral Gradient Penalized Loss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10144" y="3749039"/>
            <a:ext cx="3246120" cy="2468880"/>
          </a:xfrm>
          <a:prstGeom prst="roundRect">
            <a:avLst/>
          </a:prstGeom>
          <a:solidFill>
            <a:srgbClr val="182136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93024" y="3913631"/>
            <a:ext cx="28803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10B981"/>
                </a:solidFill>
              </a:defRPr>
            </a:pPr>
            <a:r>
              <a:t>PERSON 3  •  Team Member 3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b="1" sz="1100">
                <a:solidFill>
                  <a:srgbClr val="FFFFFF"/>
                </a:solidFill>
              </a:defRPr>
            </a:pPr>
            <a:r>
              <a:t>Anomaly Scoring, XAI &amp; UI Platform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b="1" sz="1000">
                <a:solidFill>
                  <a:srgbClr val="10B981"/>
                </a:solidFill>
              </a:rPr>
              <a:t>▸ </a:t>
            </a:r>
            <a:r>
              <a:rPr b="0" sz="1000">
                <a:solidFill>
                  <a:srgbClr val="E2E8F0"/>
                </a:solidFill>
              </a:rPr>
              <a:t>Multi-Centroid Prototype Scoring Bank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b="1" sz="1000">
                <a:solidFill>
                  <a:srgbClr val="10B981"/>
                </a:solidFill>
              </a:rPr>
              <a:t>▸ </a:t>
            </a:r>
            <a:r>
              <a:rPr b="0" sz="1000">
                <a:solidFill>
                  <a:srgbClr val="E2E8F0"/>
                </a:solidFill>
              </a:rPr>
              <a:t>Griffin-Lim Residual Audio Resynthesis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b="1" sz="1000">
                <a:solidFill>
                  <a:srgbClr val="10B981"/>
                </a:solidFill>
              </a:rPr>
              <a:t>▸ </a:t>
            </a:r>
            <a:r>
              <a:rPr b="0" sz="1000">
                <a:solidFill>
                  <a:srgbClr val="E2E8F0"/>
                </a:solidFill>
              </a:rPr>
              <a:t>ISO 10816 Vibration Compliance Engine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b="1" sz="1000">
                <a:solidFill>
                  <a:srgbClr val="10B981"/>
                </a:solidFill>
              </a:rPr>
              <a:t>▸ </a:t>
            </a:r>
            <a:r>
              <a:rPr b="0" sz="1000">
                <a:solidFill>
                  <a:srgbClr val="E2E8F0"/>
                </a:solidFill>
              </a:rPr>
              <a:t>Streamlit Twin &amp; Adversarial Stress-Tester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SLIDE 2  |  INDUSTRIAL PREDICTIVE MAINTENANCE CONTEXT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Problem Statement and Engineering Motivation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Addressing the economic catastrophe of factory machinery breakdown with zero-shot acoustic surveillance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10698480" cy="18288"/>
          </a:xfrm>
          <a:prstGeom prst="rect">
            <a:avLst/>
          </a:prstGeom>
          <a:solidFill>
            <a:srgbClr val="334155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874519"/>
            <a:ext cx="3328416" cy="4480560"/>
          </a:xfrm>
          <a:prstGeom prst="roundRect">
            <a:avLst/>
          </a:prstGeom>
          <a:solidFill>
            <a:srgbClr val="182136"/>
          </a:solidFill>
          <a:ln w="1524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57399"/>
            <a:ext cx="2962656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F43F5E"/>
                </a:solidFill>
              </a:defRPr>
            </a:pPr>
            <a:r>
              <a:t>1. THE PROBLEM ADDRESSED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b="1" sz="1100">
                <a:solidFill>
                  <a:srgbClr val="F43F5E"/>
                </a:solidFill>
              </a:rPr>
              <a:t>Unseen Mechanical Faults: </a:t>
            </a:r>
            <a:r>
              <a:rPr b="0" sz="1100">
                <a:solidFill>
                  <a:srgbClr val="E2E8F0"/>
                </a:solidFill>
              </a:rPr>
              <a:t>Critical industrial assets (rotary pumps, valves, slide rails, fans) experience catastrophic failures without prior warning.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b="1" sz="1100">
                <a:solidFill>
                  <a:srgbClr val="F43F5E"/>
                </a:solidFill>
              </a:rPr>
              <a:t>Data Scarcity: </a:t>
            </a:r>
            <a:r>
              <a:rPr b="0" sz="1100">
                <a:solidFill>
                  <a:srgbClr val="E2E8F0"/>
                </a:solidFill>
              </a:rPr>
              <a:t>Faulty recordings ('anomaly audio') are practically non-existent in plant archives because machines are stopped immediately upon breakdown.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b="1" sz="1100">
                <a:solidFill>
                  <a:srgbClr val="F43F5E"/>
                </a:solidFill>
              </a:rPr>
              <a:t>Supervised Failure: </a:t>
            </a:r>
            <a:r>
              <a:rPr b="0" sz="1100">
                <a:solidFill>
                  <a:srgbClr val="E2E8F0"/>
                </a:solidFill>
              </a:rPr>
              <a:t>Supervised classifiers cannot predict unseen, novel defect modes ('zero-day faults') outside their training distribution.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16552" y="1874519"/>
            <a:ext cx="3328416" cy="4480560"/>
          </a:xfrm>
          <a:prstGeom prst="roundRect">
            <a:avLst/>
          </a:prstGeom>
          <a:solidFill>
            <a:srgbClr val="182136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99432" y="2057399"/>
            <a:ext cx="2962656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F59E0B"/>
                </a:solidFill>
              </a:defRPr>
            </a:pPr>
            <a:r>
              <a:t>2. WHY IT MATTERS (IMPACT)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b="1" sz="1100">
                <a:solidFill>
                  <a:srgbClr val="F59E0B"/>
                </a:solidFill>
              </a:rPr>
              <a:t>Global Economic Loss: </a:t>
            </a:r>
            <a:r>
              <a:rPr b="0" sz="1100">
                <a:solidFill>
                  <a:srgbClr val="E2E8F0"/>
                </a:solidFill>
              </a:rPr>
              <a:t>Unplanned factory downtime costs manufacturing industries over $50 Billion annually in scrap and lost production throughput.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b="1" sz="1100">
                <a:solidFill>
                  <a:srgbClr val="F59E0B"/>
                </a:solidFill>
              </a:rPr>
              <a:t>Non-Contact Acoustics: </a:t>
            </a:r>
            <a:r>
              <a:rPr b="0" sz="1100">
                <a:solidFill>
                  <a:srgbClr val="E2E8F0"/>
                </a:solidFill>
              </a:rPr>
              <a:t>Traditional vibration sensors require invasive, expensive contact mounting on every bearing; acoustic microphones monitor entire assemblies remotely.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b="1" sz="1100">
                <a:solidFill>
                  <a:srgbClr val="F59E0B"/>
                </a:solidFill>
              </a:rPr>
              <a:t>Safety &amp; Reliability: </a:t>
            </a:r>
            <a:r>
              <a:rPr b="0" sz="1100">
                <a:solidFill>
                  <a:srgbClr val="E2E8F0"/>
                </a:solidFill>
              </a:rPr>
              <a:t>Early acoustic warning prevents mechanical explosions, toxic valve leakages, and hazardous equipment disintegration.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01584" y="1874519"/>
            <a:ext cx="3328416" cy="4480560"/>
          </a:xfrm>
          <a:prstGeom prst="roundRect">
            <a:avLst/>
          </a:prstGeom>
          <a:solidFill>
            <a:srgbClr val="182136"/>
          </a:solidFill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84464" y="2057399"/>
            <a:ext cx="2962656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06B6D4"/>
                </a:solidFill>
              </a:defRPr>
            </a:pPr>
            <a:r>
              <a:t>3. RESEARCH GAP IDENTIFIED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b="1" sz="1100">
                <a:solidFill>
                  <a:srgbClr val="06B6D4"/>
                </a:solidFill>
              </a:rPr>
              <a:t>Acoustic Physics Ignored: </a:t>
            </a:r>
            <a:r>
              <a:rPr b="0" sz="1100">
                <a:solidFill>
                  <a:srgbClr val="E2E8F0"/>
                </a:solidFill>
              </a:rPr>
              <a:t>Existing computer vision autoencoders treat spectrograms as standard images, ignoring fundamental harmonic physics and temporal periodicity.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b="1" sz="1100">
                <a:solidFill>
                  <a:srgbClr val="06B6D4"/>
                </a:solidFill>
              </a:rPr>
              <a:t>Phase-Destroying Augmentations: </a:t>
            </a:r>
            <a:r>
              <a:rPr b="0" sz="1100">
                <a:solidFill>
                  <a:srgbClr val="E2E8F0"/>
                </a:solidFill>
              </a:rPr>
              <a:t>Standard CutMix/SpecAugment introduces synthetic discontinuities that deceive reconstruction loss models.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b="1" sz="1100">
                <a:solidFill>
                  <a:srgbClr val="06B6D4"/>
                </a:solidFill>
              </a:rPr>
              <a:t>The 'Black-Box' Trap: </a:t>
            </a:r>
            <a:r>
              <a:rPr b="0" sz="1100">
                <a:solidFill>
                  <a:srgbClr val="E2E8F0"/>
                </a:solidFill>
              </a:rPr>
              <a:t>Existing systems output an arbitrary anomaly score (e.g. 0.93) without auditory or physical evidence for plant technicians.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SLIDE 3  |  PROJECT ROADMAP &amp; DELIVERABLES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Project Objectives &amp; Expected Technical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Rigorous targets designed to bridge acoustic signal processing, deep representation learning, and edge deployment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10698480" cy="18288"/>
          </a:xfrm>
          <a:prstGeom prst="rect">
            <a:avLst/>
          </a:prstGeom>
          <a:solidFill>
            <a:srgbClr val="334155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874519"/>
            <a:ext cx="5166360" cy="4480560"/>
          </a:xfrm>
          <a:prstGeom prst="roundRect">
            <a:avLst/>
          </a:prstGeom>
          <a:solidFill>
            <a:srgbClr val="182136"/>
          </a:solidFill>
          <a:ln w="1524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057400"/>
            <a:ext cx="47091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500">
                <a:solidFill>
                  <a:srgbClr val="3B82F6"/>
                </a:solidFill>
              </a:defRPr>
            </a:pPr>
            <a:r>
              <a:t>SPECIFIC RESEARCH GOALS</a:t>
            </a:r>
          </a:p>
          <a:p>
            <a:pPr>
              <a:spcBef>
                <a:spcPts val="1000"/>
              </a:spcBef>
              <a:spcAft>
                <a:spcPts val="200"/>
              </a:spcAft>
            </a:pPr>
            <a:r>
              <a:rPr b="1" sz="1100">
                <a:solidFill>
                  <a:srgbClr val="06B6D4"/>
                </a:solidFill>
              </a:rPr>
              <a:t>1. Unsupervised Acoustic Paradigm: </a:t>
            </a:r>
            <a:r>
              <a:rPr b="0" sz="1100">
                <a:solidFill>
                  <a:srgbClr val="E2E8F0"/>
                </a:solidFill>
              </a:rPr>
              <a:t>Develop an anomaly detection engine trained strictly on normal operating machinery sound without requiring failure labels.</a:t>
            </a:r>
          </a:p>
          <a:p>
            <a:pPr>
              <a:spcBef>
                <a:spcPts val="1000"/>
              </a:spcBef>
              <a:spcAft>
                <a:spcPts val="200"/>
              </a:spcAft>
            </a:pPr>
            <a:r>
              <a:rPr b="1" sz="1100">
                <a:solidFill>
                  <a:srgbClr val="06B6D4"/>
                </a:solidFill>
              </a:rPr>
              <a:t>2. Harmonic-Preserving DSP Pipeline: </a:t>
            </a:r>
            <a:r>
              <a:rPr b="0" sz="1100">
                <a:solidFill>
                  <a:srgbClr val="E2E8F0"/>
                </a:solidFill>
              </a:rPr>
              <a:t>Build a 64-band log-Mel DSP pipeline integrated with novel Coherent Spectral Phase Scrambling (CSPS) augmentation.</a:t>
            </a:r>
          </a:p>
          <a:p>
            <a:pPr>
              <a:spcBef>
                <a:spcPts val="1000"/>
              </a:spcBef>
              <a:spcAft>
                <a:spcPts val="200"/>
              </a:spcAft>
            </a:pPr>
            <a:r>
              <a:rPr b="1" sz="1100">
                <a:solidFill>
                  <a:srgbClr val="06B6D4"/>
                </a:solidFill>
              </a:rPr>
              <a:t>3. Hybrid Conformer Autoencoder: </a:t>
            </a:r>
            <a:r>
              <a:rPr b="0" sz="1100">
                <a:solidFill>
                  <a:srgbClr val="E2E8F0"/>
                </a:solidFill>
              </a:rPr>
              <a:t>Construct SonicConformerMAE combining depthwise separable convolutions with multi-head self-attention under structured patch masking.</a:t>
            </a:r>
          </a:p>
          <a:p>
            <a:pPr>
              <a:spcBef>
                <a:spcPts val="1000"/>
              </a:spcBef>
              <a:spcAft>
                <a:spcPts val="200"/>
              </a:spcAft>
            </a:pPr>
            <a:r>
              <a:rPr b="1" sz="1100">
                <a:solidFill>
                  <a:srgbClr val="06B6D4"/>
                </a:solidFill>
              </a:rPr>
              <a:t>4. Multi-Centroid Prototype Metric: </a:t>
            </a:r>
            <a:r>
              <a:rPr b="0" sz="1100">
                <a:solidFill>
                  <a:srgbClr val="E2E8F0"/>
                </a:solidFill>
              </a:rPr>
              <a:t>Implement dual-domain scoring unifying spectral reconstruction MSE with latent geometric manifold distance.</a:t>
            </a:r>
          </a:p>
          <a:p>
            <a:pPr>
              <a:spcBef>
                <a:spcPts val="1000"/>
              </a:spcBef>
              <a:spcAft>
                <a:spcPts val="200"/>
              </a:spcAft>
            </a:pPr>
            <a:r>
              <a:rPr b="1" sz="1100">
                <a:solidFill>
                  <a:srgbClr val="06B6D4"/>
                </a:solidFill>
              </a:rPr>
              <a:t>5. Auditory Explainability (XAI): </a:t>
            </a:r>
            <a:r>
              <a:rPr b="0" sz="1100">
                <a:solidFill>
                  <a:srgbClr val="E2E8F0"/>
                </a:solidFill>
              </a:rPr>
              <a:t>Synthesize isolated mechanical defect sounds via Griffin-Lim residual resynthesis for technician verification.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1874519"/>
            <a:ext cx="5166360" cy="4480560"/>
          </a:xfrm>
          <a:prstGeom prst="roundRect">
            <a:avLst/>
          </a:prstGeom>
          <a:solidFill>
            <a:srgbClr val="182136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19672" y="2057400"/>
            <a:ext cx="47091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500">
                <a:solidFill>
                  <a:srgbClr val="10B981"/>
                </a:solidFill>
              </a:defRPr>
            </a:pPr>
            <a:r>
              <a:t>EXPECTED INDUSTRIAL OUTCOMES</a:t>
            </a:r>
          </a:p>
          <a:p>
            <a:pPr>
              <a:spcBef>
                <a:spcPts val="1000"/>
              </a:spcBef>
              <a:spcAft>
                <a:spcPts val="200"/>
              </a:spcAft>
            </a:pPr>
            <a:r>
              <a:rPr b="1" sz="1100">
                <a:solidFill>
                  <a:srgbClr val="10B981"/>
                </a:solidFill>
              </a:rPr>
              <a:t>1. Benchmark Superiority: </a:t>
            </a:r>
            <a:r>
              <a:rPr b="0" sz="1100">
                <a:solidFill>
                  <a:srgbClr val="E2E8F0"/>
                </a:solidFill>
              </a:rPr>
              <a:t>Surpass IEEE DCASE Task 2 baseline models in both ROC-AUC and partial AUC (pAUC @ 10% FPR) across all 4 industrial machine types.</a:t>
            </a:r>
          </a:p>
          <a:p>
            <a:pPr>
              <a:spcBef>
                <a:spcPts val="1000"/>
              </a:spcBef>
              <a:spcAft>
                <a:spcPts val="200"/>
              </a:spcAft>
            </a:pPr>
            <a:r>
              <a:rPr b="1" sz="1100">
                <a:solidFill>
                  <a:srgbClr val="10B981"/>
                </a:solidFill>
              </a:rPr>
              <a:t>2. Real-Time Edge Feasibility: </a:t>
            </a:r>
            <a:r>
              <a:rPr b="0" sz="1100">
                <a:solidFill>
                  <a:srgbClr val="E2E8F0"/>
                </a:solidFill>
              </a:rPr>
              <a:t>Achieve sub-15ms inference latency per 5-second audio chunk on standard edge CPU hardware (Real-Time Factor &lt; 0.003).</a:t>
            </a:r>
          </a:p>
          <a:p>
            <a:pPr>
              <a:spcBef>
                <a:spcPts val="1000"/>
              </a:spcBef>
              <a:spcAft>
                <a:spcPts val="200"/>
              </a:spcAft>
            </a:pPr>
            <a:r>
              <a:rPr b="1" sz="1100">
                <a:solidFill>
                  <a:srgbClr val="10B981"/>
                </a:solidFill>
              </a:rPr>
              <a:t>3. Factory Noise Robustness: </a:t>
            </a:r>
            <a:r>
              <a:rPr b="0" sz="1100">
                <a:solidFill>
                  <a:srgbClr val="E2E8F0"/>
                </a:solidFill>
              </a:rPr>
              <a:t>Maintain &gt;85% detection accuracy even under harsh factory acoustic environments down to -6 dB Signal-to-Noise Ratio (SNR).</a:t>
            </a:r>
          </a:p>
          <a:p>
            <a:pPr>
              <a:spcBef>
                <a:spcPts val="1000"/>
              </a:spcBef>
              <a:spcAft>
                <a:spcPts val="200"/>
              </a:spcAft>
            </a:pPr>
            <a:r>
              <a:rPr b="1" sz="1100">
                <a:solidFill>
                  <a:srgbClr val="10B981"/>
                </a:solidFill>
              </a:rPr>
              <a:t>4. Interactive Digital Twin Interface: </a:t>
            </a:r>
            <a:r>
              <a:rPr b="0" sz="1100">
                <a:solidFill>
                  <a:srgbClr val="E2E8F0"/>
                </a:solidFill>
              </a:rPr>
              <a:t>Deliver a production-ready Streamlit dashboard featuring live acoustic telemetry, 3D rotor twin, and automated ISO 10816 compliance reporting.</a:t>
            </a:r>
          </a:p>
          <a:p>
            <a:pPr>
              <a:spcBef>
                <a:spcPts val="1000"/>
              </a:spcBef>
              <a:spcAft>
                <a:spcPts val="200"/>
              </a:spcAft>
            </a:pPr>
            <a:r>
              <a:rPr b="1" sz="1100">
                <a:solidFill>
                  <a:srgbClr val="10B981"/>
                </a:solidFill>
              </a:rPr>
              <a:t>5. Auditable Explainability: </a:t>
            </a:r>
            <a:r>
              <a:rPr b="0" sz="1100">
                <a:solidFill>
                  <a:srgbClr val="E2E8F0"/>
                </a:solidFill>
              </a:rPr>
              <a:t>Eliminate blind alert fatigue by presenting listenable audio of the extracted mechanical defect.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SLIDE 4  |  STATE OF THE ART &amp; CRITICAL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Literature Review &amp; Research Gap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Systematic comparison of prior anomalous sound detection studies and how SonicMAE resolves their core deficiencies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10698480" cy="18288"/>
          </a:xfrm>
          <a:prstGeom prst="rect">
            <a:avLst/>
          </a:prstGeom>
          <a:solidFill>
            <a:srgbClr val="334155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874519"/>
          <a:ext cx="10725912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377440"/>
                <a:gridCol w="3108960"/>
                <a:gridCol w="3227832"/>
              </a:tblGrid>
              <a:tr h="585216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06B6D4"/>
                          </a:solidFill>
                        </a:defRPr>
                      </a:pPr>
                      <a:r>
                        <a:t>Study &amp; Reference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06B6D4"/>
                          </a:solidFill>
                        </a:defRPr>
                      </a:pPr>
                      <a:r>
                        <a:t>Model / Approach Used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06B6D4"/>
                          </a:solidFill>
                        </a:defRPr>
                      </a:pPr>
                      <a:r>
                        <a:t>Key Strengths / Contributions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06B6D4"/>
                          </a:solidFill>
                        </a:defRPr>
                      </a:pPr>
                      <a:r>
                        <a:t>Critical Limitations &amp; Failures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FFFFF"/>
                          </a:solidFill>
                        </a:defRPr>
                      </a:pPr>
                      <a:r>
                        <a:t>Purohit et al. (DCASE 2019/20 Baseline)</a:t>
                      </a:r>
                    </a:p>
                  </a:txBody>
                  <a:tcPr>
                    <a:solidFill>
                      <a:srgbClr val="1821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E2E8F0"/>
                          </a:solidFill>
                        </a:defRPr>
                      </a:pPr>
                      <a:r>
                        <a:t>MobileNetV2 &amp; Dense Autoencoder (MSE reconstruction)</a:t>
                      </a:r>
                    </a:p>
                  </a:txBody>
                  <a:tcPr>
                    <a:solidFill>
                      <a:srgbClr val="1821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E2E8F0"/>
                          </a:solidFill>
                        </a:defRPr>
                      </a:pPr>
                      <a:r>
                        <a:t>Standardized the first benchmark; low computational complexity for edge deployment.</a:t>
                      </a:r>
                    </a:p>
                  </a:txBody>
                  <a:tcPr>
                    <a:solidFill>
                      <a:srgbClr val="1821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43F5E"/>
                          </a:solidFill>
                        </a:defRPr>
                      </a:pPr>
                      <a:r>
                        <a:t>High false positive rate under ambient factory noise; cannot capture non-local periodic motor resonance.</a:t>
                      </a:r>
                    </a:p>
                  </a:txBody>
                  <a:tcPr>
                    <a:solidFill>
                      <a:srgbClr val="182136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FFFFF"/>
                          </a:solidFill>
                        </a:defRPr>
                      </a:pPr>
                      <a:r>
                        <a:t>Primus et al. (2020 / Inver-ResNet)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E2E8F0"/>
                          </a:solidFill>
                        </a:defRPr>
                      </a:pPr>
                      <a:r>
                        <a:t>Deep Invertible ResNet with Outlier Exposure (OE)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E2E8F0"/>
                          </a:solidFill>
                        </a:defRPr>
                      </a:pPr>
                      <a:r>
                        <a:t>Tighter density estimation via invertible flow architectures; explicit outlier loss.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43F5E"/>
                          </a:solidFill>
                        </a:defRPr>
                      </a:pPr>
                      <a:r>
                        <a:t>Relies on synthetic acoustic outliers that do not match genuine mechanical friction or bearing failure modes.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FFFFF"/>
                          </a:solidFill>
                        </a:defRPr>
                      </a:pPr>
                      <a:r>
                        <a:t>Koizumi et al. (2021 / ID-Conditioned VAE)</a:t>
                      </a:r>
                    </a:p>
                  </a:txBody>
                  <a:tcPr>
                    <a:solidFill>
                      <a:srgbClr val="1821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E2E8F0"/>
                          </a:solidFill>
                        </a:defRPr>
                      </a:pPr>
                      <a:r>
                        <a:t>Variational Autoencoder conditioned on machine IDs</a:t>
                      </a:r>
                    </a:p>
                  </a:txBody>
                  <a:tcPr>
                    <a:solidFill>
                      <a:srgbClr val="1821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E2E8F0"/>
                          </a:solidFill>
                        </a:defRPr>
                      </a:pPr>
                      <a:r>
                        <a:t>Learns separate latent subspace distributions for individual factory machine units.</a:t>
                      </a:r>
                    </a:p>
                  </a:txBody>
                  <a:tcPr>
                    <a:solidFill>
                      <a:srgbClr val="1821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43F5E"/>
                          </a:solidFill>
                        </a:defRPr>
                      </a:pPr>
                      <a:r>
                        <a:t>Severe posterior collapse; outputs over-smoothed, blurry spectrograms; fails under variable operational machine speeds.</a:t>
                      </a:r>
                    </a:p>
                  </a:txBody>
                  <a:tcPr>
                    <a:solidFill>
                      <a:srgbClr val="182136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FFFFF"/>
                          </a:solidFill>
                        </a:defRPr>
                      </a:pPr>
                      <a:r>
                        <a:t>Vision MAE Adaptations (He et al. / Huang et al.)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E2E8F0"/>
                          </a:solidFill>
                        </a:defRPr>
                      </a:pPr>
                      <a:r>
                        <a:t>Vision Transformer (ViT) with random patch masking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E2E8F0"/>
                          </a:solidFill>
                        </a:defRPr>
                      </a:pPr>
                      <a:r>
                        <a:t>Excellent self-supervised representation capability on ImageNet natural vision data.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43F5E"/>
                          </a:solidFill>
                        </a:defRPr>
                      </a:pPr>
                      <a:r>
                        <a:t>Destroys acoustic phase coherence; ignores physical anisotropy between time and frequency axes in audio.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731520" y="4983480"/>
            <a:ext cx="10725912" cy="1371600"/>
          </a:xfrm>
          <a:prstGeom prst="roundRect">
            <a:avLst/>
          </a:prstGeom>
          <a:solidFill>
            <a:srgbClr val="182136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5074920"/>
            <a:ext cx="1036015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F59E0B"/>
                </a:solidFill>
              </a:defRPr>
            </a:pPr>
            <a:r>
              <a:t>THE UNADDRESSED RESEARCH GAP TARGETED BY SONIC-MAE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b="1" sz="1000">
                <a:solidFill>
                  <a:srgbClr val="06B6D4"/>
                </a:solidFill>
              </a:rPr>
              <a:t>Gap 1 (Augmentation): </a:t>
            </a:r>
            <a:r>
              <a:rPr b="0" sz="1000">
                <a:solidFill>
                  <a:srgbClr val="E2E8F0"/>
                </a:solidFill>
              </a:rPr>
              <a:t>Lack of phase-aware data augmentations that enhance acoustic generalization without destroying harmonic relationships.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b="1" sz="1000">
                <a:solidFill>
                  <a:srgbClr val="06B6D4"/>
                </a:solidFill>
              </a:rPr>
              <a:t>Gap 2 (Architecture): </a:t>
            </a:r>
            <a:r>
              <a:rPr b="0" sz="1000">
                <a:solidFill>
                  <a:srgbClr val="E2E8F0"/>
                </a:solidFill>
              </a:rPr>
              <a:t>Absence of dual convolutional-attention backbones capable of simultaneously capturing microsecond bearing impulses and long-range motor cycles.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b="1" sz="1000">
                <a:solidFill>
                  <a:srgbClr val="06B6D4"/>
                </a:solidFill>
              </a:rPr>
              <a:t>Gap 3 (Explainability): </a:t>
            </a:r>
            <a:r>
              <a:rPr b="0" sz="1000">
                <a:solidFill>
                  <a:srgbClr val="E2E8F0"/>
                </a:solidFill>
              </a:rPr>
              <a:t>Existing ASD systems provide opaque scalar scores without auditory reconstruction, leaving maintenance engineers unable to verify defects.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SLIDE 5  |  UNIQUE INNOVATIONS &amp; SCIENTIFIC MERIT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Novelty and Technical Contributions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Four foundational pillars distinguishing SonicMAE from conventional acoustic anomaly detection approaches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10698480" cy="18288"/>
          </a:xfrm>
          <a:prstGeom prst="rect">
            <a:avLst/>
          </a:prstGeom>
          <a:solidFill>
            <a:srgbClr val="334155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874519"/>
            <a:ext cx="5166360" cy="2148840"/>
          </a:xfrm>
          <a:prstGeom prst="roundRect">
            <a:avLst/>
          </a:prstGeom>
          <a:solidFill>
            <a:srgbClr val="182136"/>
          </a:solidFill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11679"/>
            <a:ext cx="480060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06B6D4"/>
                </a:solidFill>
              </a:defRPr>
            </a:pPr>
            <a:r>
              <a:t>1. COHERENT SPECTRAL PHASE SCRAMBLING (CSPS)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b="1" sz="1000">
                <a:solidFill>
                  <a:srgbClr val="06B6D4"/>
                </a:solidFill>
              </a:rPr>
              <a:t>Acoustic Novelty: </a:t>
            </a:r>
            <a:r>
              <a:rPr b="0" sz="1000">
                <a:solidFill>
                  <a:srgbClr val="E2E8F0"/>
                </a:solidFill>
              </a:rPr>
              <a:t>First data augmentation technique designed to perturb analytic signal phase via delta-theta jitter while preserving pitch harmonics.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b="1" sz="1000">
                <a:solidFill>
                  <a:srgbClr val="06B6D4"/>
                </a:solidFill>
              </a:rPr>
              <a:t>Advantage over SpecAugment: </a:t>
            </a:r>
            <a:r>
              <a:rPr b="0" sz="1000">
                <a:solidFill>
                  <a:srgbClr val="E2E8F0"/>
                </a:solidFill>
              </a:rPr>
              <a:t>Prevents artificial rectangular zero-holes that fool autoencoders into false reconstruction errors.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1874519"/>
            <a:ext cx="5166360" cy="2148840"/>
          </a:xfrm>
          <a:prstGeom prst="roundRect">
            <a:avLst/>
          </a:prstGeom>
          <a:solidFill>
            <a:srgbClr val="182136"/>
          </a:solidFill>
          <a:ln w="1524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73952" y="2011679"/>
            <a:ext cx="480060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3B82F6"/>
                </a:solidFill>
              </a:defRPr>
            </a:pPr>
            <a:r>
              <a:t>2. HYBRID SONICCONFORMER-MAE ARCHITECTURE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b="1" sz="1000">
                <a:solidFill>
                  <a:srgbClr val="3B82F6"/>
                </a:solidFill>
              </a:rPr>
              <a:t>Architectural Novelty: </a:t>
            </a:r>
            <a:r>
              <a:rPr b="0" sz="1000">
                <a:solidFill>
                  <a:srgbClr val="E2E8F0"/>
                </a:solidFill>
              </a:rPr>
              <a:t>Unifies Macaron-style FFNs, Multi-Head Self-Attention, and Depthwise Convolutions under a 50-75% structured patch masking regime.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b="1" sz="1000">
                <a:solidFill>
                  <a:srgbClr val="3B82F6"/>
                </a:solidFill>
              </a:rPr>
              <a:t>Physics Alignment: </a:t>
            </a:r>
            <a:r>
              <a:rPr b="0" sz="1000">
                <a:solidFill>
                  <a:srgbClr val="E2E8F0"/>
                </a:solidFill>
              </a:rPr>
              <a:t>Self-attention models RPM rotational periodicity, while depthwise convolutions capture localized friction and impact transients.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206240"/>
            <a:ext cx="5166360" cy="2148840"/>
          </a:xfrm>
          <a:prstGeom prst="roundRect">
            <a:avLst/>
          </a:prstGeom>
          <a:solidFill>
            <a:srgbClr val="182136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343400"/>
            <a:ext cx="480060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F59E0B"/>
                </a:solidFill>
              </a:defRPr>
            </a:pPr>
            <a:r>
              <a:t>3. MULTI-CENTROID DUAL-DOMAIN ANOMALY SCORING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b="1" sz="1000">
                <a:solidFill>
                  <a:srgbClr val="F59E0B"/>
                </a:solidFill>
              </a:rPr>
              <a:t>Mathematical Formulation: </a:t>
            </a:r>
            <a:r>
              <a:rPr b="0" sz="1000">
                <a:solidFill>
                  <a:srgbClr val="E2E8F0"/>
                </a:solidFill>
              </a:rPr>
              <a:t>Score combines spectrogram reconstruction error with Euclidean distance from k-Means healthy prototype clusters in 128D latent space.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b="1" sz="1000">
                <a:solidFill>
                  <a:srgbClr val="F59E0B"/>
                </a:solidFill>
              </a:rPr>
              <a:t>Dual Safety Net: </a:t>
            </a:r>
            <a:r>
              <a:rPr b="0" sz="1000">
                <a:solidFill>
                  <a:srgbClr val="E2E8F0"/>
                </a:solidFill>
              </a:rPr>
              <a:t>Even if anomalous audio reconstructs with low residual, its latent embedding drifts outside nominal manifold clusters, triggering detection.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91072" y="4206240"/>
            <a:ext cx="5166360" cy="2148840"/>
          </a:xfrm>
          <a:prstGeom prst="roundRect">
            <a:avLst/>
          </a:prstGeom>
          <a:solidFill>
            <a:srgbClr val="182136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73952" y="4343400"/>
            <a:ext cx="480060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10B981"/>
                </a:solidFill>
              </a:defRPr>
            </a:pPr>
            <a:r>
              <a:t>4. AUDITORY EXPLAINABILITY &amp; DIGITAL TWIN UI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b="1" sz="1000">
                <a:solidFill>
                  <a:srgbClr val="10B981"/>
                </a:solidFill>
              </a:rPr>
              <a:t>Explainable AI (XAI): </a:t>
            </a:r>
            <a:r>
              <a:rPr b="0" sz="1000">
                <a:solidFill>
                  <a:srgbClr val="E2E8F0"/>
                </a:solidFill>
              </a:rPr>
              <a:t>Griffin-Lim phase inversion resynthesizes residual spectrograms into audible sound, allowing engineers to hear the isolated anomaly.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b="1" sz="1000">
                <a:solidFill>
                  <a:srgbClr val="10B981"/>
                </a:solidFill>
              </a:rPr>
              <a:t>Production Readiness: </a:t>
            </a:r>
            <a:r>
              <a:rPr b="0" sz="1000">
                <a:solidFill>
                  <a:srgbClr val="E2E8F0"/>
                </a:solidFill>
              </a:rPr>
              <a:t>Streamlit platform with real-time waveform telemetry, 3D rotor twin, adversarial noise stress-testing, and automated ISO 10816 reporting.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SLIDE 6  |  DATA INGESTION &amp;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Dataset Specifications &amp; Partitioning Scheme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Standardized benchmark acoustics from the IEEE AASP DCASE Challenge / MIMII &amp; ToyADMOS repositories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10698480" cy="18288"/>
          </a:xfrm>
          <a:prstGeom prst="rect">
            <a:avLst/>
          </a:prstGeom>
          <a:solidFill>
            <a:srgbClr val="334155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874519"/>
            <a:ext cx="2468880" cy="1463040"/>
          </a:xfrm>
          <a:prstGeom prst="roundRect">
            <a:avLst/>
          </a:prstGeom>
          <a:solidFill>
            <a:srgbClr val="182136"/>
          </a:solidFill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011679"/>
            <a:ext cx="21945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1" sz="2400">
                <a:solidFill>
                  <a:srgbClr val="06B6D4"/>
                </a:solidFill>
              </a:defRPr>
            </a:pPr>
            <a:r>
              <a:t>26,000+</a:t>
            </a:r>
          </a:p>
          <a:p>
            <a:pPr algn="ctr">
              <a:defRPr b="1" sz="1000">
                <a:solidFill>
                  <a:srgbClr val="FFFFFF"/>
                </a:solidFill>
              </a:defRPr>
            </a:pPr>
            <a:r>
              <a:t>Industrial Audio Recordings</a:t>
            </a:r>
          </a:p>
          <a:p>
            <a:pPr algn="ctr">
              <a:defRPr sz="900">
                <a:solidFill>
                  <a:srgbClr val="94A3B8"/>
                </a:solidFill>
              </a:defRPr>
            </a:pPr>
            <a:r>
              <a:t>16 kHz, 16-bit Mono WAV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83864" y="1874519"/>
            <a:ext cx="2468880" cy="1463040"/>
          </a:xfrm>
          <a:prstGeom prst="roundRect">
            <a:avLst/>
          </a:prstGeom>
          <a:solidFill>
            <a:srgbClr val="182136"/>
          </a:solidFill>
          <a:ln w="1524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21024" y="2011679"/>
            <a:ext cx="21945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1" sz="2400">
                <a:solidFill>
                  <a:srgbClr val="3B82F6"/>
                </a:solidFill>
              </a:defRPr>
            </a:pPr>
            <a:r>
              <a:t>4 Types</a:t>
            </a:r>
          </a:p>
          <a:p>
            <a:pPr algn="ctr">
              <a:defRPr b="1" sz="1000">
                <a:solidFill>
                  <a:srgbClr val="FFFFFF"/>
                </a:solidFill>
              </a:defRPr>
            </a:pPr>
            <a:r>
              <a:t>Industrial Machine Categories</a:t>
            </a:r>
          </a:p>
          <a:p>
            <a:pPr algn="ctr">
              <a:defRPr sz="900">
                <a:solidFill>
                  <a:srgbClr val="94A3B8"/>
                </a:solidFill>
              </a:defRPr>
            </a:pPr>
            <a:r>
              <a:t>Valves, Pumps, Fans, Sliders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36208" y="1874519"/>
            <a:ext cx="2468880" cy="1463040"/>
          </a:xfrm>
          <a:prstGeom prst="roundRect">
            <a:avLst/>
          </a:prstGeom>
          <a:solidFill>
            <a:srgbClr val="182136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73368" y="2011679"/>
            <a:ext cx="21945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1" sz="2400">
                <a:solidFill>
                  <a:srgbClr val="F59E0B"/>
                </a:solidFill>
              </a:defRPr>
            </a:pPr>
            <a:r>
              <a:t>7 IDs</a:t>
            </a:r>
          </a:p>
          <a:p>
            <a:pPr algn="ctr">
              <a:defRPr b="1" sz="1000">
                <a:solidFill>
                  <a:srgbClr val="FFFFFF"/>
                </a:solidFill>
              </a:defRPr>
            </a:pPr>
            <a:r>
              <a:t>Independent Machine Units</a:t>
            </a:r>
          </a:p>
          <a:p>
            <a:pPr algn="ctr">
              <a:defRPr sz="900">
                <a:solidFill>
                  <a:srgbClr val="94A3B8"/>
                </a:solidFill>
              </a:defRPr>
            </a:pPr>
            <a:r>
              <a:t>Specific physical devices per class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88552" y="1874519"/>
            <a:ext cx="2468880" cy="1463040"/>
          </a:xfrm>
          <a:prstGeom prst="roundRect">
            <a:avLst/>
          </a:prstGeom>
          <a:solidFill>
            <a:srgbClr val="182136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25712" y="2011679"/>
            <a:ext cx="21945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1" sz="2400">
                <a:solidFill>
                  <a:srgbClr val="10B981"/>
                </a:solidFill>
              </a:defRPr>
            </a:pPr>
            <a:r>
              <a:t>3 SNRs</a:t>
            </a:r>
          </a:p>
          <a:p>
            <a:pPr algn="ctr">
              <a:defRPr b="1" sz="1000">
                <a:solidFill>
                  <a:srgbClr val="FFFFFF"/>
                </a:solidFill>
              </a:defRPr>
            </a:pPr>
            <a:r>
              <a:t>Factory Ambient Noise Levels</a:t>
            </a:r>
          </a:p>
          <a:p>
            <a:pPr algn="ctr">
              <a:defRPr sz="900">
                <a:solidFill>
                  <a:srgbClr val="94A3B8"/>
                </a:solidFill>
              </a:defRPr>
            </a:pPr>
            <a:r>
              <a:t>Clean (+6dB), Mild (0dB), Heavy (-6dB)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566160"/>
            <a:ext cx="5166360" cy="2788920"/>
          </a:xfrm>
          <a:prstGeom prst="roundRect">
            <a:avLst/>
          </a:prstGeom>
          <a:solidFill>
            <a:srgbClr val="182136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3703320"/>
            <a:ext cx="4800600" cy="2514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06B6D4"/>
                </a:solidFill>
              </a:defRPr>
            </a:pPr>
            <a:r>
              <a:t>DATA DISTRIBUTION &amp; REAL-WORLD IMBALANCE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b="1" sz="1000">
                <a:solidFill>
                  <a:srgbClr val="06B6D4"/>
                </a:solidFill>
              </a:rPr>
              <a:t>Dataset Sources: </a:t>
            </a:r>
            <a:r>
              <a:rPr b="0" sz="1000">
                <a:solidFill>
                  <a:srgbClr val="E2E8F0"/>
                </a:solidFill>
              </a:rPr>
              <a:t>MIMII (Hitachi) and ToyADMOS (IEEE DCASE Task 2).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b="1" sz="1000">
                <a:solidFill>
                  <a:srgbClr val="06B6D4"/>
                </a:solidFill>
              </a:rPr>
              <a:t>Machine Class Breakdown: </a:t>
            </a:r>
            <a:r>
              <a:rPr b="0" sz="1000">
                <a:solidFill>
                  <a:srgbClr val="E2E8F0"/>
                </a:solidFill>
              </a:rPr>
              <a:t>Fan (continuous rotation), Pump (suction cavitation), Slider (periodic sliding friction), Valve (solenoid impact transients).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b="1" sz="1000">
                <a:solidFill>
                  <a:srgbClr val="06B6D4"/>
                </a:solidFill>
              </a:rPr>
              <a:t>Extreme Imbalance Handling: </a:t>
            </a:r>
            <a:r>
              <a:rPr b="0" sz="1000">
                <a:solidFill>
                  <a:srgbClr val="E2E8F0"/>
                </a:solidFill>
              </a:rPr>
              <a:t>90% healthy baseline recordings, 10% held-out unlabelled anomaly samples. Mimics real industrial production where failures are rare.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b="1" sz="1000">
                <a:solidFill>
                  <a:srgbClr val="06B6D4"/>
                </a:solidFill>
              </a:rPr>
              <a:t>Data Integrity: </a:t>
            </a:r>
            <a:r>
              <a:rPr b="0" sz="1000">
                <a:solidFill>
                  <a:srgbClr val="E2E8F0"/>
                </a:solidFill>
              </a:rPr>
              <a:t>Verified zero missing samples, zero corrupt headers, and strict 16 kHz sampling standardization.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91072" y="3566160"/>
            <a:ext cx="5166360" cy="2788920"/>
          </a:xfrm>
          <a:prstGeom prst="roundRect">
            <a:avLst/>
          </a:prstGeom>
          <a:solidFill>
            <a:srgbClr val="182136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19672" y="3703320"/>
            <a:ext cx="4800600" cy="2514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10B981"/>
                </a:solidFill>
              </a:defRPr>
            </a:pPr>
            <a:r>
              <a:t>LEAKAGE-FREE PARTITIONING STRATEGY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b="1" sz="1000">
                <a:solidFill>
                  <a:srgbClr val="10B981"/>
                </a:solidFill>
              </a:rPr>
              <a:t>Training Split (80% Normal Audio): </a:t>
            </a:r>
            <a:r>
              <a:rPr b="0" sz="1000">
                <a:solidFill>
                  <a:srgbClr val="E2E8F0"/>
                </a:solidFill>
              </a:rPr>
              <a:t>Dedicated strictly to unsupervised masked autoencoder learning. Contains ZERO anomalous audio.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b="1" sz="1000">
                <a:solidFill>
                  <a:srgbClr val="10B981"/>
                </a:solidFill>
              </a:rPr>
              <a:t>Validation Split (10% Normal Audio): </a:t>
            </a:r>
            <a:r>
              <a:rPr b="0" sz="1000">
                <a:solidFill>
                  <a:srgbClr val="E2E8F0"/>
                </a:solidFill>
              </a:rPr>
              <a:t>Used exclusively for Early Stopping loss tracking and k-Means prototype cluster centroid fitting.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b="1" sz="1000">
                <a:solidFill>
                  <a:srgbClr val="10B981"/>
                </a:solidFill>
              </a:rPr>
              <a:t>Testing Split (10% Normal + 100% Anomalies): </a:t>
            </a:r>
            <a:r>
              <a:rPr b="0" sz="1000">
                <a:solidFill>
                  <a:srgbClr val="E2E8F0"/>
                </a:solidFill>
              </a:rPr>
              <a:t>Reserved solely for final zero-shot benchmark reporting (ROC-AUC and pAUC @ 10% FPR).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b="1" sz="1000">
                <a:solidFill>
                  <a:srgbClr val="10B981"/>
                </a:solidFill>
              </a:rPr>
              <a:t>Zero Data Leakage Guarantee: </a:t>
            </a:r>
            <a:r>
              <a:rPr b="0" sz="1000">
                <a:solidFill>
                  <a:srgbClr val="E2E8F0"/>
                </a:solidFill>
              </a:rPr>
              <a:t>Machine IDs and SNR splits are strictly isolated between training and evaluation folds.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SLIDE 7  |  ACOUSTIC SIGNAL PROCESSING (DSP)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Data Preprocessing &amp; Harmonic Feature Extraction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Transforming raw non-stationary pressure waves into physically normalized time-frequency representations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10698480" cy="18288"/>
          </a:xfrm>
          <a:prstGeom prst="rect">
            <a:avLst/>
          </a:prstGeom>
          <a:solidFill>
            <a:srgbClr val="334155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874519"/>
            <a:ext cx="2468880" cy="4480560"/>
          </a:xfrm>
          <a:prstGeom prst="roundRect">
            <a:avLst/>
          </a:prstGeom>
          <a:solidFill>
            <a:srgbClr val="182136"/>
          </a:solidFill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039111"/>
            <a:ext cx="2194560" cy="416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000">
                <a:solidFill>
                  <a:srgbClr val="06B6D4"/>
                </a:solidFill>
              </a:defRPr>
            </a:pPr>
            <a:r>
              <a:t>STAGE 1</a:t>
            </a:r>
          </a:p>
          <a:p>
            <a:pPr>
              <a:spcBef>
                <a:spcPts val="300"/>
              </a:spcBef>
              <a:spcAft>
                <a:spcPts val="800"/>
              </a:spcAft>
              <a:defRPr b="1" sz="1200">
                <a:solidFill>
                  <a:srgbClr val="FFFFFF"/>
                </a:solidFill>
              </a:defRPr>
            </a:pPr>
            <a:r>
              <a:t>Signal Conditioning &amp; DC Removal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b="1" sz="950">
                <a:solidFill>
                  <a:srgbClr val="06B6D4"/>
                </a:solidFill>
              </a:rPr>
              <a:t>DC-Offset Filter: </a:t>
            </a:r>
            <a:r>
              <a:rPr b="0" sz="950">
                <a:solidFill>
                  <a:srgbClr val="E2E8F0"/>
                </a:solidFill>
              </a:rPr>
              <a:t>Eliminates low-frequency mechanical drift and 50/60 Hz electrical hum.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b="1" sz="950">
                <a:solidFill>
                  <a:srgbClr val="06B6D4"/>
                </a:solidFill>
              </a:rPr>
              <a:t>Stereo Averaging: </a:t>
            </a:r>
            <a:r>
              <a:rPr b="0" sz="950">
                <a:solidFill>
                  <a:srgbClr val="E2E8F0"/>
                </a:solidFill>
              </a:rPr>
              <a:t>Averages multi-channel inputs to mono (x_L + x_R)/2 to prevent phase cancellation.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b="1" sz="950">
                <a:solidFill>
                  <a:srgbClr val="06B6D4"/>
                </a:solidFill>
              </a:rPr>
              <a:t>Peak Normalization: </a:t>
            </a:r>
            <a:r>
              <a:rPr b="0" sz="950">
                <a:solidFill>
                  <a:srgbClr val="E2E8F0"/>
                </a:solidFill>
              </a:rPr>
              <a:t>Scales waveform amplitudes strictly to [-1.0, 1.0].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b="1" sz="950">
                <a:solidFill>
                  <a:srgbClr val="06B6D4"/>
                </a:solidFill>
              </a:rPr>
              <a:t>Silence Trimming: </a:t>
            </a:r>
            <a:r>
              <a:rPr b="0" sz="950">
                <a:solidFill>
                  <a:srgbClr val="E2E8F0"/>
                </a:solidFill>
              </a:rPr>
              <a:t>Removes pre-operational sensor dead-time (&lt; -40 dB).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83864" y="1874519"/>
            <a:ext cx="2468880" cy="4480560"/>
          </a:xfrm>
          <a:prstGeom prst="roundRect">
            <a:avLst/>
          </a:prstGeom>
          <a:solidFill>
            <a:srgbClr val="182136"/>
          </a:solidFill>
          <a:ln w="1524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21024" y="2039111"/>
            <a:ext cx="2194560" cy="416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000">
                <a:solidFill>
                  <a:srgbClr val="3B82F6"/>
                </a:solidFill>
              </a:defRPr>
            </a:pPr>
            <a:r>
              <a:t>STAGE 2</a:t>
            </a:r>
          </a:p>
          <a:p>
            <a:pPr>
              <a:spcBef>
                <a:spcPts val="300"/>
              </a:spcBef>
              <a:spcAft>
                <a:spcPts val="800"/>
              </a:spcAft>
              <a:defRPr b="1" sz="1200">
                <a:solidFill>
                  <a:srgbClr val="FFFFFF"/>
                </a:solidFill>
              </a:defRPr>
            </a:pPr>
            <a:r>
              <a:t>Time-Frequency STFT &amp; Mel Scaling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b="1" sz="950">
                <a:solidFill>
                  <a:srgbClr val="3B82F6"/>
                </a:solidFill>
              </a:rPr>
              <a:t>STFT Window: </a:t>
            </a:r>
            <a:r>
              <a:rPr b="0" sz="950">
                <a:solidFill>
                  <a:srgbClr val="E2E8F0"/>
                </a:solidFill>
              </a:rPr>
              <a:t>1024-sample Hann window with 512-sample hop (50% overlap).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b="1" sz="950">
                <a:solidFill>
                  <a:srgbClr val="3B82F6"/>
                </a:solidFill>
              </a:rPr>
              <a:t>64 Mel Filterbanks: </a:t>
            </a:r>
            <a:r>
              <a:rPr b="0" sz="950">
                <a:solidFill>
                  <a:srgbClr val="E2E8F0"/>
                </a:solidFill>
              </a:rPr>
              <a:t>Compresses linear frequencies (20 Hz - 8 kHz) to perceptual Mel scale.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b="1" sz="950">
                <a:solidFill>
                  <a:srgbClr val="3B82F6"/>
                </a:solidFill>
              </a:rPr>
              <a:t>Log Dynamic Compression: </a:t>
            </a:r>
            <a:r>
              <a:rPr b="0" sz="950">
                <a:solidFill>
                  <a:srgbClr val="E2E8F0"/>
                </a:solidFill>
              </a:rPr>
              <a:t>S = log(M + 1e-6) converts power to decibel scale perception.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b="1" sz="950">
                <a:solidFill>
                  <a:srgbClr val="3B82F6"/>
                </a:solidFill>
              </a:rPr>
              <a:t>Compact Representation: </a:t>
            </a:r>
            <a:r>
              <a:rPr b="0" sz="950">
                <a:solidFill>
                  <a:srgbClr val="E2E8F0"/>
                </a:solidFill>
              </a:rPr>
              <a:t>Compresses 80k float samples into a clean (64 x 313) matrix.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36208" y="1874519"/>
            <a:ext cx="2468880" cy="4480560"/>
          </a:xfrm>
          <a:prstGeom prst="roundRect">
            <a:avLst/>
          </a:prstGeom>
          <a:solidFill>
            <a:srgbClr val="182136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73368" y="2039111"/>
            <a:ext cx="2194560" cy="416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000">
                <a:solidFill>
                  <a:srgbClr val="F59E0B"/>
                </a:solidFill>
              </a:defRPr>
            </a:pPr>
            <a:r>
              <a:t>STAGE 3</a:t>
            </a:r>
          </a:p>
          <a:p>
            <a:pPr>
              <a:spcBef>
                <a:spcPts val="300"/>
              </a:spcBef>
              <a:spcAft>
                <a:spcPts val="800"/>
              </a:spcAft>
              <a:defRPr b="1" sz="1200">
                <a:solidFill>
                  <a:srgbClr val="FFFFFF"/>
                </a:solidFill>
              </a:defRPr>
            </a:pPr>
            <a:r>
              <a:t>Normalization &amp; Augmentation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b="1" sz="950">
                <a:solidFill>
                  <a:srgbClr val="F59E0B"/>
                </a:solidFill>
              </a:rPr>
              <a:t>Z-Score Normalization: </a:t>
            </a:r>
            <a:r>
              <a:rPr b="0" sz="950">
                <a:solidFill>
                  <a:srgbClr val="E2E8F0"/>
                </a:solidFill>
              </a:rPr>
              <a:t>Normalized using training set statistics: (S - mu) / sigma.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b="1" sz="950">
                <a:solidFill>
                  <a:srgbClr val="F59E0B"/>
                </a:solidFill>
              </a:rPr>
              <a:t>CSPS Augmentation: </a:t>
            </a:r>
            <a:r>
              <a:rPr b="0" sz="950">
                <a:solidFill>
                  <a:srgbClr val="E2E8F0"/>
                </a:solidFill>
              </a:rPr>
              <a:t>Novel Coherent Phase Scrambler perturbs analytic phase.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b="1" sz="950">
                <a:solidFill>
                  <a:srgbClr val="F59E0B"/>
                </a:solidFill>
              </a:rPr>
              <a:t>Harmonic Invariance: </a:t>
            </a:r>
            <a:r>
              <a:rPr b="0" sz="950">
                <a:solidFill>
                  <a:srgbClr val="E2E8F0"/>
                </a:solidFill>
              </a:rPr>
              <a:t>Preserves harmonic ratios while simulating plant room reverberation.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b="1" sz="950">
                <a:solidFill>
                  <a:srgbClr val="F59E0B"/>
                </a:solidFill>
              </a:rPr>
              <a:t>Spectral Masking: </a:t>
            </a:r>
            <a:r>
              <a:rPr b="0" sz="950">
                <a:solidFill>
                  <a:srgbClr val="E2E8F0"/>
                </a:solidFill>
              </a:rPr>
              <a:t>Zeroes 50-75% time-frequency blocks during training.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88552" y="1874519"/>
            <a:ext cx="2468880" cy="4480560"/>
          </a:xfrm>
          <a:prstGeom prst="roundRect">
            <a:avLst/>
          </a:prstGeom>
          <a:solidFill>
            <a:srgbClr val="182136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25712" y="2039111"/>
            <a:ext cx="2194560" cy="416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000">
                <a:solidFill>
                  <a:srgbClr val="10B981"/>
                </a:solidFill>
              </a:defRPr>
            </a:pPr>
            <a:r>
              <a:t>STAGE 4</a:t>
            </a:r>
          </a:p>
          <a:p>
            <a:pPr>
              <a:spcBef>
                <a:spcPts val="300"/>
              </a:spcBef>
              <a:spcAft>
                <a:spcPts val="800"/>
              </a:spcAft>
              <a:defRPr b="1" sz="1200">
                <a:solidFill>
                  <a:srgbClr val="FFFFFF"/>
                </a:solidFill>
              </a:defRPr>
            </a:pPr>
            <a:r>
              <a:t>Anti-Leakage Architecture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b="1" sz="950">
                <a:solidFill>
                  <a:srgbClr val="10B981"/>
                </a:solidFill>
              </a:rPr>
              <a:t>Fold Isolation: </a:t>
            </a:r>
            <a:r>
              <a:rPr b="0" sz="950">
                <a:solidFill>
                  <a:srgbClr val="E2E8F0"/>
                </a:solidFill>
              </a:rPr>
              <a:t>Mean and standard deviation computed strictly on training normal audio.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b="1" sz="950">
                <a:solidFill>
                  <a:srgbClr val="10B981"/>
                </a:solidFill>
              </a:rPr>
              <a:t>Zero Test Contamination: </a:t>
            </a:r>
            <a:r>
              <a:rPr b="0" sz="950">
                <a:solidFill>
                  <a:srgbClr val="E2E8F0"/>
                </a:solidFill>
              </a:rPr>
              <a:t>Test samples standardized using frozen training moments.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b="1" sz="950">
                <a:solidFill>
                  <a:srgbClr val="10B981"/>
                </a:solidFill>
              </a:rPr>
              <a:t>Prototype Bank Safety: </a:t>
            </a:r>
            <a:r>
              <a:rPr b="0" sz="950">
                <a:solidFill>
                  <a:srgbClr val="E2E8F0"/>
                </a:solidFill>
              </a:rPr>
              <a:t>Centroids derived strictly from training nominal embeddings.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b="1" sz="950">
                <a:solidFill>
                  <a:srgbClr val="10B981"/>
                </a:solidFill>
              </a:rPr>
              <a:t>Robust Evaluation: </a:t>
            </a:r>
            <a:r>
              <a:rPr b="0" sz="950">
                <a:solidFill>
                  <a:srgbClr val="E2E8F0"/>
                </a:solidFill>
              </a:rPr>
              <a:t>Guarantees valid zero-shot anomaly scoring.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SLIDE 8  |  END-TO-END SYSTEM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Proposed System Architecture &amp; Workflow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Structured dataflow from acoustic sensor acquisition to explainable AI and edge dashboard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10698480" cy="18288"/>
          </a:xfrm>
          <a:prstGeom prst="rect">
            <a:avLst/>
          </a:prstGeom>
          <a:solidFill>
            <a:srgbClr val="334155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874519"/>
            <a:ext cx="10725912" cy="1234440"/>
          </a:xfrm>
          <a:prstGeom prst="roundRect">
            <a:avLst/>
          </a:prstGeom>
          <a:solidFill>
            <a:srgbClr val="182136"/>
          </a:solidFill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14400" y="2011679"/>
            <a:ext cx="2423160" cy="9601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057399"/>
            <a:ext cx="2240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06B6D4"/>
                </a:solidFill>
              </a:defRPr>
            </a:pPr>
            <a:r>
              <a:t>1. Acoustic Ingestion</a:t>
            </a:r>
          </a:p>
          <a:p>
            <a:pPr>
              <a:defRPr sz="950">
                <a:solidFill>
                  <a:srgbClr val="E2E8F0"/>
                </a:solidFill>
              </a:defRPr>
            </a:pPr>
            <a:r>
              <a:t>16 kHz Mono Audio</a:t>
            </a:r>
            <a:br/>
            <a:r>
              <a:t>Waveform Buffer [80k samples]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57016" y="2011679"/>
            <a:ext cx="2423160" cy="9601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48456" y="2057399"/>
            <a:ext cx="2240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06B6D4"/>
                </a:solidFill>
              </a:defRPr>
            </a:pPr>
            <a:r>
              <a:t>2. DSP STFT &amp; Mel</a:t>
            </a:r>
          </a:p>
          <a:p>
            <a:pPr>
              <a:defRPr sz="950">
                <a:solidFill>
                  <a:srgbClr val="E2E8F0"/>
                </a:solidFill>
              </a:defRPr>
            </a:pPr>
            <a:r>
              <a:t>1024-pt Hann STFT</a:t>
            </a:r>
            <a:br/>
            <a:r>
              <a:t>64 Mel Bands -&gt; (64, 313)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9632" y="2011679"/>
            <a:ext cx="2423160" cy="9601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91072" y="2057399"/>
            <a:ext cx="2240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06B6D4"/>
                </a:solidFill>
              </a:defRPr>
            </a:pPr>
            <a:r>
              <a:t>3. CSPS Augmentation</a:t>
            </a:r>
          </a:p>
          <a:p>
            <a:pPr>
              <a:defRPr sz="950">
                <a:solidFill>
                  <a:srgbClr val="E2E8F0"/>
                </a:solidFill>
              </a:defRPr>
            </a:pPr>
            <a:r>
              <a:t>Coherent Phase Scrambler</a:t>
            </a:r>
            <a:br/>
            <a:r>
              <a:t>(Harmonic Jitter delta-theta)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842248" y="2011679"/>
            <a:ext cx="2423160" cy="9601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33688" y="2057399"/>
            <a:ext cx="2240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3B82F6"/>
                </a:solidFill>
              </a:defRPr>
            </a:pPr>
            <a:r>
              <a:t>4. Structured Masking</a:t>
            </a:r>
          </a:p>
          <a:p>
            <a:pPr>
              <a:defRPr sz="950">
                <a:solidFill>
                  <a:srgbClr val="E2E8F0"/>
                </a:solidFill>
              </a:defRPr>
            </a:pPr>
            <a:r>
              <a:t>Time &amp; Freq Strip Mask</a:t>
            </a:r>
            <a:br/>
            <a:r>
              <a:t>50% - 75% Masking Ratio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291840"/>
            <a:ext cx="10725912" cy="1234440"/>
          </a:xfrm>
          <a:prstGeom prst="roundRect">
            <a:avLst/>
          </a:prstGeom>
          <a:solidFill>
            <a:srgbClr val="182136"/>
          </a:solidFill>
          <a:ln w="1524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914400" y="3429000"/>
            <a:ext cx="2423160" cy="9601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3474720"/>
            <a:ext cx="2240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3B82F6"/>
                </a:solidFill>
              </a:defRPr>
            </a:pPr>
            <a:r>
              <a:t>5. SonicConformer Encoder</a:t>
            </a:r>
          </a:p>
          <a:p>
            <a:pPr>
              <a:defRPr sz="950">
                <a:solidFill>
                  <a:srgbClr val="E2E8F0"/>
                </a:solidFill>
              </a:defRPr>
            </a:pPr>
            <a:r>
              <a:t>Multi-Head Self-Attention +</a:t>
            </a:r>
            <a:br/>
            <a:r>
              <a:t>Depthwise Conv2D Blocks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557016" y="3429000"/>
            <a:ext cx="2423160" cy="9601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48456" y="3474720"/>
            <a:ext cx="2240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F59E0B"/>
                </a:solidFill>
              </a:defRPr>
            </a:pPr>
            <a:r>
              <a:t>6. Latent Bottleneck</a:t>
            </a:r>
          </a:p>
          <a:p>
            <a:pPr>
              <a:defRPr sz="950">
                <a:solidFill>
                  <a:srgbClr val="E2E8F0"/>
                </a:solidFill>
              </a:defRPr>
            </a:pPr>
            <a:r>
              <a:t>Compact Embedding</a:t>
            </a:r>
            <a:br/>
            <a:r>
              <a:t>z in R^128 (Manifold space)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99632" y="3429000"/>
            <a:ext cx="2423160" cy="9601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91072" y="3474720"/>
            <a:ext cx="2240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3B82F6"/>
                </a:solidFill>
              </a:defRPr>
            </a:pPr>
            <a:r>
              <a:t>7. Symmetric Decoder</a:t>
            </a:r>
          </a:p>
          <a:p>
            <a:pPr>
              <a:defRPr sz="950">
                <a:solidFill>
                  <a:srgbClr val="E2E8F0"/>
                </a:solidFill>
              </a:defRPr>
            </a:pPr>
            <a:r>
              <a:t>4x ConvTranspose2D Blocks</a:t>
            </a:r>
            <a:br/>
            <a:r>
              <a:t>Mel-Spectrogram Inversion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842248" y="3429000"/>
            <a:ext cx="2423160" cy="9601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933688" y="3474720"/>
            <a:ext cx="2240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10B981"/>
                </a:solidFill>
              </a:defRPr>
            </a:pPr>
            <a:r>
              <a:t>8. Penalized Loss Engine</a:t>
            </a:r>
          </a:p>
          <a:p>
            <a:pPr>
              <a:defRPr sz="950">
                <a:solidFill>
                  <a:srgbClr val="E2E8F0"/>
                </a:solidFill>
              </a:defRPr>
            </a:pPr>
            <a:r>
              <a:t>L = MSE_masked +</a:t>
            </a:r>
            <a:br/>
            <a:r>
              <a:t>0.1 * L_spectral_gradient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4709160"/>
            <a:ext cx="10725912" cy="1234440"/>
          </a:xfrm>
          <a:prstGeom prst="roundRect">
            <a:avLst/>
          </a:prstGeom>
          <a:solidFill>
            <a:srgbClr val="182136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914400" y="4846320"/>
            <a:ext cx="2423160" cy="9601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05840" y="4892040"/>
            <a:ext cx="2240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F59E0B"/>
                </a:solidFill>
              </a:defRPr>
            </a:pPr>
            <a:r>
              <a:t>9. Prototype Bank</a:t>
            </a:r>
          </a:p>
          <a:p>
            <a:pPr>
              <a:defRPr sz="950">
                <a:solidFill>
                  <a:srgbClr val="E2E8F0"/>
                </a:solidFill>
              </a:defRPr>
            </a:pPr>
            <a:r>
              <a:t>k-Means Latent Clusters</a:t>
            </a:r>
            <a:br/>
            <a:r>
              <a:t>Nominal Health Manifold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557016" y="4846320"/>
            <a:ext cx="2423160" cy="9601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48456" y="4892040"/>
            <a:ext cx="2240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10B981"/>
                </a:solidFill>
              </a:defRPr>
            </a:pPr>
            <a:r>
              <a:t>10. Dual-Domain Score</a:t>
            </a:r>
          </a:p>
          <a:p>
            <a:pPr>
              <a:defRPr sz="950">
                <a:solidFill>
                  <a:srgbClr val="E2E8F0"/>
                </a:solidFill>
              </a:defRPr>
            </a:pPr>
            <a:r>
              <a:t>A(x) = alpha*MSE +</a:t>
            </a:r>
            <a:br/>
            <a:r>
              <a:t>(1-alpha)*d_min(z, C)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199632" y="4846320"/>
            <a:ext cx="2423160" cy="9601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291072" y="4892040"/>
            <a:ext cx="2240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06B6D4"/>
                </a:solidFill>
              </a:defRPr>
            </a:pPr>
            <a:r>
              <a:t>11. Griffin-Lim Audio (XAI)</a:t>
            </a:r>
          </a:p>
          <a:p>
            <a:pPr>
              <a:defRPr sz="950">
                <a:solidFill>
                  <a:srgbClr val="E2E8F0"/>
                </a:solidFill>
              </a:defRPr>
            </a:pPr>
            <a:r>
              <a:t>Delta S = |S - S_hat|</a:t>
            </a:r>
            <a:br/>
            <a:r>
              <a:t>Resynthesizes Defect Audio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842248" y="4846320"/>
            <a:ext cx="2423160" cy="9601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933688" y="4892040"/>
            <a:ext cx="2240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10B981"/>
                </a:solidFill>
              </a:defRPr>
            </a:pPr>
            <a:r>
              <a:t>12. Streamlit Dashboard</a:t>
            </a:r>
          </a:p>
          <a:p>
            <a:pPr>
              <a:defRPr sz="950">
                <a:solidFill>
                  <a:srgbClr val="E2E8F0"/>
                </a:solidFill>
              </a:defRPr>
            </a:pPr>
            <a:r>
              <a:t>3D Twin + Live Monitor +</a:t>
            </a:r>
            <a:br/>
            <a:r>
              <a:t>ISO 10816 Audit Reports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SLIDE 9  |  NEURAL MODELING &amp; TRAINING DYNAMICS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Deep Learning Model Architecture &amp; 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Architectural rationale, hyperparameter configuration, and mathematical loss formulation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10698480" cy="18288"/>
          </a:xfrm>
          <a:prstGeom prst="rect">
            <a:avLst/>
          </a:prstGeom>
          <a:solidFill>
            <a:srgbClr val="334155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874519"/>
            <a:ext cx="5166360" cy="4480560"/>
          </a:xfrm>
          <a:prstGeom prst="roundRect">
            <a:avLst/>
          </a:prstGeom>
          <a:solidFill>
            <a:srgbClr val="182136"/>
          </a:solidFill>
          <a:ln w="1524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39111"/>
            <a:ext cx="4800600" cy="416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3B82F6"/>
                </a:solidFill>
              </a:defRPr>
            </a:pPr>
            <a:r>
              <a:t>ARCHITECTURE SPECIFICATION &amp; RATIONALE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b="1" sz="1000">
                <a:solidFill>
                  <a:srgbClr val="3B82F6"/>
                </a:solidFill>
              </a:rPr>
              <a:t>SonicConformerMAE Backbone: </a:t>
            </a:r>
            <a:r>
              <a:rPr b="0" sz="1000">
                <a:solidFill>
                  <a:srgbClr val="E2E8F0"/>
                </a:solidFill>
              </a:rPr>
              <a:t>Engineered with Macaron-style Feed-Forward networks, 4-head Multi-Head Self-Attention, and 1D Depthwise Separable Convolutions.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b="1" sz="1000">
                <a:solidFill>
                  <a:srgbClr val="06B6D4"/>
                </a:solidFill>
              </a:rPr>
              <a:t>Why Conformer over Pure CNN?: </a:t>
            </a:r>
            <a:r>
              <a:rPr b="0" sz="1000">
                <a:solidFill>
                  <a:srgbClr val="E2E8F0"/>
                </a:solidFill>
              </a:rPr>
              <a:t>Standard CNNs have restricted receptive fields that miss low-frequency periodicity across several engine RPM revolutions.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b="1" sz="1000">
                <a:solidFill>
                  <a:srgbClr val="06B6D4"/>
                </a:solidFill>
              </a:rPr>
              <a:t>Why Conformer over Pure ViT?: </a:t>
            </a:r>
            <a:r>
              <a:rPr b="0" sz="1000">
                <a:solidFill>
                  <a:srgbClr val="E2E8F0"/>
                </a:solidFill>
              </a:rPr>
              <a:t>Pure Vision Transformers lack translational inductive bias for harmonic formants and require 10x more training data to converge.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b="1" sz="1000">
                <a:solidFill>
                  <a:srgbClr val="06B6D4"/>
                </a:solidFill>
              </a:rPr>
              <a:t>Edge CNN Variant: </a:t>
            </a:r>
            <a:r>
              <a:rPr b="0" sz="1000">
                <a:solidFill>
                  <a:srgbClr val="E2E8F0"/>
                </a:solidFill>
              </a:rPr>
              <a:t>We also implemented a 4-layer depthwise separable CNN autoencoder (32-&gt;64-&gt;128-&gt;256 channels) for ultra-constrained edge microcontrollers.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b="1" sz="1000">
                <a:solidFill>
                  <a:srgbClr val="06B6D4"/>
                </a:solidFill>
              </a:rPr>
              <a:t>128D Manifold Bottleneck: </a:t>
            </a:r>
            <a:r>
              <a:rPr b="0" sz="1000">
                <a:solidFill>
                  <a:srgbClr val="E2E8F0"/>
                </a:solidFill>
              </a:rPr>
              <a:t>Forces the network to discard stochastic noise and retain only structural physical machinery operational coordinates.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1874519"/>
            <a:ext cx="5166360" cy="4480560"/>
          </a:xfrm>
          <a:prstGeom prst="roundRect">
            <a:avLst/>
          </a:prstGeom>
          <a:solidFill>
            <a:srgbClr val="182136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19672" y="2039111"/>
            <a:ext cx="4800600" cy="416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F59E0B"/>
                </a:solidFill>
              </a:defRPr>
            </a:pPr>
            <a:r>
              <a:t>HYPERPARAMETERS &amp; FORMULATION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b="1" sz="1000">
                <a:solidFill>
                  <a:srgbClr val="F59E0B"/>
                </a:solidFill>
              </a:rPr>
              <a:t>Optimizer: </a:t>
            </a:r>
            <a:r>
              <a:rPr b="0" sz="1000">
                <a:solidFill>
                  <a:srgbClr val="E2E8F0"/>
                </a:solidFill>
              </a:rPr>
              <a:t>AdamW (beta_1=0.9, beta_2=0.999, weight_decay=1e-4).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b="1" sz="1000">
                <a:solidFill>
                  <a:srgbClr val="F59E0B"/>
                </a:solidFill>
              </a:rPr>
              <a:t>Learning Rate Schedule: </a:t>
            </a:r>
            <a:r>
              <a:rPr b="0" sz="1000">
                <a:solidFill>
                  <a:srgbClr val="E2E8F0"/>
                </a:solidFill>
              </a:rPr>
              <a:t>Initial lr=1e-3 with Cosine Annealing decay down to 1e-6 across 50 epochs.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b="1" sz="1000">
                <a:solidFill>
                  <a:srgbClr val="F59E0B"/>
                </a:solidFill>
              </a:rPr>
              <a:t>Batch Size &amp; Gradient Clip: </a:t>
            </a:r>
            <a:r>
              <a:rPr b="0" sz="1000">
                <a:solidFill>
                  <a:srgbClr val="E2E8F0"/>
                </a:solidFill>
              </a:rPr>
              <a:t>Batch size = 32, max gradient norm clipped at 1.0 to prevent exploding gradients.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b="1" sz="1000">
                <a:solidFill>
                  <a:srgbClr val="F59E0B"/>
                </a:solidFill>
              </a:rPr>
              <a:t>Compound Loss Function: </a:t>
            </a:r>
            <a:r>
              <a:rPr b="0" sz="1000">
                <a:solidFill>
                  <a:srgbClr val="E2E8F0"/>
                </a:solidFill>
              </a:rPr>
              <a:t>L_total = MSE_masked(S, S_hat) + 0.1 * L_spec_grad(S, S_hat), penalizing blurred harmonic edges.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b="1" sz="1000">
                <a:solidFill>
                  <a:srgbClr val="10B981"/>
                </a:solidFill>
              </a:rPr>
              <a:t>Frameworks &amp; Tooling: </a:t>
            </a:r>
            <a:r>
              <a:rPr b="0" sz="1000">
                <a:solidFill>
                  <a:srgbClr val="E2E8F0"/>
                </a:solidFill>
              </a:rPr>
              <a:t>PyTorch 2.0+, Torchaudio, Librosa, Scipy Signal, Scikit-Learn, Streamlit, and Microsoft Edge Headless Compiler.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SLIDE 10  |  EMPIRICAL VALIDATION &amp; BENCHMARK SUPERIORITY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Experimental Results: Quantitative Benchmark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Rigorous evaluation on MIMII/ToyADMOS test sets using IEEE DCASE official metrics (ROC-AUC &amp; pAUC @ 10% FPR)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10698480" cy="18288"/>
          </a:xfrm>
          <a:prstGeom prst="rect">
            <a:avLst/>
          </a:prstGeom>
          <a:solidFill>
            <a:srgbClr val="334155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874519"/>
          <a:ext cx="10725912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1737360"/>
                <a:gridCol w="1737360"/>
                <a:gridCol w="1737360"/>
                <a:gridCol w="1737360"/>
                <a:gridCol w="1764792"/>
              </a:tblGrid>
              <a:tr h="487680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06B6D4"/>
                          </a:solidFill>
                        </a:defRPr>
                      </a:pPr>
                      <a:r>
                        <a:t>Machine Category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06B6D4"/>
                          </a:solidFill>
                        </a:defRPr>
                      </a:pPr>
                      <a:r>
                        <a:t>Baseline AE (DCASE)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06B6D4"/>
                          </a:solidFill>
                        </a:defRPr>
                      </a:pPr>
                      <a:r>
                        <a:t>MobileNetV2 Adapter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06B6D4"/>
                          </a:solidFill>
                        </a:defRPr>
                      </a:pPr>
                      <a:r>
                        <a:t>SonicMAE (CNN)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06B6D4"/>
                          </a:solidFill>
                        </a:defRPr>
                      </a:pPr>
                      <a:r>
                        <a:t>SonicConformerMAE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06B6D4"/>
                          </a:solidFill>
                        </a:defRPr>
                      </a:pPr>
                      <a:r>
                        <a:t>Net Improvement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Industrial Fan (Continuous)</a:t>
                      </a:r>
                    </a:p>
                  </a:txBody>
                  <a:tcPr>
                    <a:solidFill>
                      <a:srgbClr val="1821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2E8F0"/>
                          </a:solidFill>
                        </a:defRPr>
                      </a:pPr>
                      <a:r>
                        <a:t>78.4% (pAUC 67.2%)</a:t>
                      </a:r>
                    </a:p>
                  </a:txBody>
                  <a:tcPr>
                    <a:solidFill>
                      <a:srgbClr val="1821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2E8F0"/>
                          </a:solidFill>
                        </a:defRPr>
                      </a:pPr>
                      <a:r>
                        <a:t>84.2% (pAUC 73.1%)</a:t>
                      </a:r>
                    </a:p>
                  </a:txBody>
                  <a:tcPr>
                    <a:solidFill>
                      <a:srgbClr val="1821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2E8F0"/>
                          </a:solidFill>
                        </a:defRPr>
                      </a:pPr>
                      <a:r>
                        <a:t>89.5% (pAUC 80.4%)</a:t>
                      </a:r>
                    </a:p>
                  </a:txBody>
                  <a:tcPr>
                    <a:solidFill>
                      <a:srgbClr val="1821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6B6D4"/>
                          </a:solidFill>
                        </a:defRPr>
                      </a:pPr>
                      <a:r>
                        <a:t>92.4% (pAUC 84.1%)</a:t>
                      </a:r>
                    </a:p>
                  </a:txBody>
                  <a:tcPr>
                    <a:solidFill>
                      <a:srgbClr val="1821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0B981"/>
                          </a:solidFill>
                        </a:defRPr>
                      </a:pPr>
                      <a:r>
                        <a:t>+14.0% ROC-AUC</a:t>
                      </a:r>
                    </a:p>
                  </a:txBody>
                  <a:tcPr>
                    <a:solidFill>
                      <a:srgbClr val="182136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Centrifugal Pump (Cavitation)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2E8F0"/>
                          </a:solidFill>
                        </a:defRPr>
                      </a:pPr>
                      <a:r>
                        <a:t>74.1% (pAUC 63.8%)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2E8F0"/>
                          </a:solidFill>
                        </a:defRPr>
                      </a:pPr>
                      <a:r>
                        <a:t>80.5% (pAUC 70.4%)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2E8F0"/>
                          </a:solidFill>
                        </a:defRPr>
                      </a:pPr>
                      <a:r>
                        <a:t>86.7% (pAUC 77.2%)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6B6D4"/>
                          </a:solidFill>
                        </a:defRPr>
                      </a:pPr>
                      <a:r>
                        <a:t>89.8% (pAUC 81.6%)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0B981"/>
                          </a:solidFill>
                        </a:defRPr>
                      </a:pPr>
                      <a:r>
                        <a:t>+15.7% ROC-AUC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Slide Rail (Friction/Impulse)</a:t>
                      </a:r>
                    </a:p>
                  </a:txBody>
                  <a:tcPr>
                    <a:solidFill>
                      <a:srgbClr val="1821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2E8F0"/>
                          </a:solidFill>
                        </a:defRPr>
                      </a:pPr>
                      <a:r>
                        <a:t>86.2% (pAUC 75.9%)</a:t>
                      </a:r>
                    </a:p>
                  </a:txBody>
                  <a:tcPr>
                    <a:solidFill>
                      <a:srgbClr val="1821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2E8F0"/>
                          </a:solidFill>
                        </a:defRPr>
                      </a:pPr>
                      <a:r>
                        <a:t>90.1% (pAUC 81.5%)</a:t>
                      </a:r>
                    </a:p>
                  </a:txBody>
                  <a:tcPr>
                    <a:solidFill>
                      <a:srgbClr val="1821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2E8F0"/>
                          </a:solidFill>
                        </a:defRPr>
                      </a:pPr>
                      <a:r>
                        <a:t>93.4% (pAUC 87.1%)</a:t>
                      </a:r>
                    </a:p>
                  </a:txBody>
                  <a:tcPr>
                    <a:solidFill>
                      <a:srgbClr val="1821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6B6D4"/>
                          </a:solidFill>
                        </a:defRPr>
                      </a:pPr>
                      <a:r>
                        <a:t>96.5% (pAUC 91.8%)</a:t>
                      </a:r>
                    </a:p>
                  </a:txBody>
                  <a:tcPr>
                    <a:solidFill>
                      <a:srgbClr val="1821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0B981"/>
                          </a:solidFill>
                        </a:defRPr>
                      </a:pPr>
                      <a:r>
                        <a:t>+10.3% ROC-AUC</a:t>
                      </a:r>
                    </a:p>
                  </a:txBody>
                  <a:tcPr>
                    <a:solidFill>
                      <a:srgbClr val="182136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Solenoid Valve (Transient Click)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2E8F0"/>
                          </a:solidFill>
                        </a:defRPr>
                      </a:pPr>
                      <a:r>
                        <a:t>81.5% (pAUC 71.0%)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2E8F0"/>
                          </a:solidFill>
                        </a:defRPr>
                      </a:pPr>
                      <a:r>
                        <a:t>86.8% (pAUC 78.2%)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2E8F0"/>
                          </a:solidFill>
                        </a:defRPr>
                      </a:pPr>
                      <a:r>
                        <a:t>91.2% (pAUC 83.9%)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6B6D4"/>
                          </a:solidFill>
                        </a:defRPr>
                      </a:pPr>
                      <a:r>
                        <a:t>94.2% (pAUC 88.5%)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0B981"/>
                          </a:solidFill>
                        </a:defRPr>
                      </a:pPr>
                      <a:r>
                        <a:t>+12.7% ROC-AUC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Mean Performance (All Assets)</a:t>
                      </a:r>
                    </a:p>
                  </a:txBody>
                  <a:tcPr>
                    <a:solidFill>
                      <a:srgbClr val="1821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2E8F0"/>
                          </a:solidFill>
                        </a:defRPr>
                      </a:pPr>
                      <a:r>
                        <a:t>80.1% (pAUC 69.5%)</a:t>
                      </a:r>
                    </a:p>
                  </a:txBody>
                  <a:tcPr>
                    <a:solidFill>
                      <a:srgbClr val="1821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2E8F0"/>
                          </a:solidFill>
                        </a:defRPr>
                      </a:pPr>
                      <a:r>
                        <a:t>85.4% (pAUC 75.8%)</a:t>
                      </a:r>
                    </a:p>
                  </a:txBody>
                  <a:tcPr>
                    <a:solidFill>
                      <a:srgbClr val="1821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2E8F0"/>
                          </a:solidFill>
                        </a:defRPr>
                      </a:pPr>
                      <a:r>
                        <a:t>90.2% (pAUC 82.2%)</a:t>
                      </a:r>
                    </a:p>
                  </a:txBody>
                  <a:tcPr>
                    <a:solidFill>
                      <a:srgbClr val="1821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6B6D4"/>
                          </a:solidFill>
                        </a:defRPr>
                      </a:pPr>
                      <a:r>
                        <a:t>93.2% (pAUC 86.5%)</a:t>
                      </a:r>
                    </a:p>
                  </a:txBody>
                  <a:tcPr>
                    <a:solidFill>
                      <a:srgbClr val="1821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0B981"/>
                          </a:solidFill>
                        </a:defRPr>
                      </a:pPr>
                      <a:r>
                        <a:t>+13.1% (Mean Gain)</a:t>
                      </a:r>
                    </a:p>
                  </a:txBody>
                  <a:tcPr>
                    <a:solidFill>
                      <a:srgbClr val="182136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731520" y="4983480"/>
            <a:ext cx="3328416" cy="1371600"/>
          </a:xfrm>
          <a:prstGeom prst="roundRect">
            <a:avLst/>
          </a:prstGeom>
          <a:solidFill>
            <a:srgbClr val="182136"/>
          </a:solidFill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5093208"/>
            <a:ext cx="3054096" cy="11521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000">
                <a:solidFill>
                  <a:srgbClr val="06B6D4"/>
                </a:solidFill>
              </a:defRPr>
            </a:pPr>
            <a:r>
              <a:t>INFERENCE LATENCY</a:t>
            </a:r>
          </a:p>
          <a:p>
            <a:pPr>
              <a:defRPr b="1" sz="1800">
                <a:solidFill>
                  <a:srgbClr val="FFFFFF"/>
                </a:solidFill>
              </a:defRPr>
            </a:pPr>
            <a:r>
              <a:t>12.4 ms / chunk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Measured on Intel Core i7 CPU (&lt;0.003 Real-Time Factor). Sub-3ms on GPU.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16552" y="4983480"/>
            <a:ext cx="3328416" cy="1371600"/>
          </a:xfrm>
          <a:prstGeom prst="roundRect">
            <a:avLst/>
          </a:prstGeom>
          <a:solidFill>
            <a:srgbClr val="182136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53712" y="5093208"/>
            <a:ext cx="3054096" cy="11521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000">
                <a:solidFill>
                  <a:srgbClr val="10B981"/>
                </a:solidFill>
              </a:defRPr>
            </a:pPr>
            <a:r>
              <a:t>PARTIAL AUC GAIN</a:t>
            </a:r>
          </a:p>
          <a:p>
            <a:pPr>
              <a:defRPr b="1" sz="1800">
                <a:solidFill>
                  <a:srgbClr val="FFFFFF"/>
                </a:solidFill>
              </a:defRPr>
            </a:pPr>
            <a:r>
              <a:t>+17.0% pAUC @ 0.1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Crucial metric: guarantees ultra-low false alarms in real plant control rooms.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01584" y="4983480"/>
            <a:ext cx="3328416" cy="1371600"/>
          </a:xfrm>
          <a:prstGeom prst="roundRect">
            <a:avLst/>
          </a:prstGeom>
          <a:solidFill>
            <a:srgbClr val="182136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38744" y="5093208"/>
            <a:ext cx="3054096" cy="11521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000">
                <a:solidFill>
                  <a:srgbClr val="F59E0B"/>
                </a:solidFill>
              </a:defRPr>
            </a:pPr>
            <a:r>
              <a:t>MEMORY FOOTPRINT</a:t>
            </a:r>
          </a:p>
          <a:p>
            <a:pPr>
              <a:defRPr b="1" sz="1800">
                <a:solidFill>
                  <a:srgbClr val="FFFFFF"/>
                </a:solidFill>
              </a:defRPr>
            </a:pPr>
            <a:r>
              <a:t>14.2 MB Model Weight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Highly quantized parameters ideal for edge microcontrollers &amp; Raspberry Pi 4.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SLIDE 11  |  CONVERGENCE &amp; REPRESENTATION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Experimental Results: Training Dynamics &amp; Latent Separation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Empirical verification of monotonic loss convergence, absence of overfitting, and distinct manifold clustering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10698480" cy="18288"/>
          </a:xfrm>
          <a:prstGeom prst="rect">
            <a:avLst/>
          </a:prstGeom>
          <a:solidFill>
            <a:srgbClr val="334155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874519"/>
            <a:ext cx="5166360" cy="4480560"/>
          </a:xfrm>
          <a:prstGeom prst="roundRect">
            <a:avLst/>
          </a:prstGeom>
          <a:solidFill>
            <a:srgbClr val="182136"/>
          </a:solidFill>
          <a:ln w="1524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039111"/>
            <a:ext cx="4800600" cy="416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3B82F6"/>
                </a:solidFill>
              </a:defRPr>
            </a:pPr>
            <a:r>
              <a:t>TRAINING &amp; VALIDATION LOSS DYNAMICS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b="1" sz="1000">
                <a:solidFill>
                  <a:srgbClr val="3B82F6"/>
                </a:solidFill>
              </a:rPr>
              <a:t>Monotonic Convergence: </a:t>
            </a:r>
            <a:r>
              <a:rPr b="0" sz="1000">
                <a:solidFill>
                  <a:srgbClr val="E2E8F0"/>
                </a:solidFill>
              </a:rPr>
              <a:t>Training loss exhibits smooth exponential decay from initial epoch loss of 0.84 down to 0.042 masked MSE.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b="1" sz="1000">
                <a:solidFill>
                  <a:srgbClr val="06B6D4"/>
                </a:solidFill>
              </a:rPr>
              <a:t>Absence of Overfitting: </a:t>
            </a:r>
            <a:r>
              <a:rPr b="0" sz="1000">
                <a:solidFill>
                  <a:srgbClr val="E2E8F0"/>
                </a:solidFill>
              </a:rPr>
              <a:t>Validation loss tracks within 0.005 of training loss throughout 50 epochs due to aggressive structured patch masking (50-75%).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b="1" sz="1000">
                <a:solidFill>
                  <a:srgbClr val="06B6D4"/>
                </a:solidFill>
              </a:rPr>
              <a:t>Cosine Annealing Efficacy: </a:t>
            </a:r>
            <a:r>
              <a:rPr b="0" sz="1000">
                <a:solidFill>
                  <a:srgbClr val="E2E8F0"/>
                </a:solidFill>
              </a:rPr>
              <a:t>Learning rate decay prevents late-stage gradient chatter, sharpening harmonic frequency reconstruction.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b="1" sz="1000">
                <a:solidFill>
                  <a:srgbClr val="06B6D4"/>
                </a:solidFill>
              </a:rPr>
              <a:t>Spectral Gradient Contribution: </a:t>
            </a:r>
            <a:r>
              <a:rPr b="0" sz="1000">
                <a:solidFill>
                  <a:srgbClr val="E2E8F0"/>
                </a:solidFill>
              </a:rPr>
              <a:t>Ablation confirms spectral gradient loss eliminates blurry harmonic smearing by 42% compared to bare MSE.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1874519"/>
            <a:ext cx="5166360" cy="4480560"/>
          </a:xfrm>
          <a:prstGeom prst="roundRect">
            <a:avLst/>
          </a:prstGeom>
          <a:solidFill>
            <a:srgbClr val="182136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19672" y="2039111"/>
            <a:ext cx="4800600" cy="416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10B981"/>
                </a:solidFill>
              </a:defRPr>
            </a:pPr>
            <a:r>
              <a:t>LATENT MANIFOLD GEOMETRY &amp; SEPARATION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b="1" sz="1000">
                <a:solidFill>
                  <a:srgbClr val="10B981"/>
                </a:solidFill>
              </a:rPr>
              <a:t>T-SNE &amp; PCA Projections: </a:t>
            </a:r>
            <a:r>
              <a:rPr b="0" sz="1000">
                <a:solidFill>
                  <a:srgbClr val="E2E8F0"/>
                </a:solidFill>
              </a:rPr>
              <a:t>Normal machine recordings form tight, continuous spherical clusters around the fitted k-Means prototypes in R^128.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b="1" sz="1000">
                <a:solidFill>
                  <a:srgbClr val="F59E0B"/>
                </a:solidFill>
              </a:rPr>
              <a:t>Radical Outlier Expulsion: </a:t>
            </a:r>
            <a:r>
              <a:rPr b="0" sz="1000">
                <a:solidFill>
                  <a:srgbClr val="E2E8F0"/>
                </a:solidFill>
              </a:rPr>
              <a:t>Unseen mechanical anomalies (valve chatter, cavitation, bearing pitting) are projected far outside the nominal sphere (d &gt; 4.2 sigma).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b="1" sz="1000">
                <a:solidFill>
                  <a:srgbClr val="10B981"/>
                </a:solidFill>
              </a:rPr>
              <a:t>Multi-Centroid Safety: </a:t>
            </a:r>
            <a:r>
              <a:rPr b="0" sz="1000">
                <a:solidFill>
                  <a:srgbClr val="E2E8F0"/>
                </a:solidFill>
              </a:rPr>
              <a:t>Using k=5 clusters captures multiple machine operating states (idle, ramp-up, full-load) without false anomaly triggers.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b="1" sz="1000">
                <a:solidFill>
                  <a:srgbClr val="10B981"/>
                </a:solidFill>
              </a:rPr>
              <a:t>Zero Latent Collapse: </a:t>
            </a:r>
            <a:r>
              <a:rPr b="0" sz="1000">
                <a:solidFill>
                  <a:srgbClr val="E2E8F0"/>
                </a:solidFill>
              </a:rPr>
              <a:t>Conformer attention preserves embedding variance across all 128 dimensions, verified via eigenvalue spectrum analysis.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SLIDE 12  |  DIAGNOSTIC RELIABILITY &amp; STRESS TESTING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Experimental Results: Confusion Matrix &amp; Noise Stress-Test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Operating threshold classification metrics and adversarial acoustic robustness under industrial factory noise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10698480" cy="18288"/>
          </a:xfrm>
          <a:prstGeom prst="rect">
            <a:avLst/>
          </a:prstGeom>
          <a:solidFill>
            <a:srgbClr val="334155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874519"/>
            <a:ext cx="5166360" cy="4480560"/>
          </a:xfrm>
          <a:prstGeom prst="roundRect">
            <a:avLst/>
          </a:prstGeom>
          <a:solidFill>
            <a:srgbClr val="182136"/>
          </a:solidFill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039111"/>
            <a:ext cx="4800600" cy="416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06B6D4"/>
                </a:solidFill>
              </a:defRPr>
            </a:pPr>
            <a:r>
              <a:t>OPERATING POINT CLASSIFICATION METRICS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b="1" sz="1000">
                <a:solidFill>
                  <a:srgbClr val="06B6D4"/>
                </a:solidFill>
              </a:rPr>
              <a:t>Operating Threshold: </a:t>
            </a:r>
            <a:r>
              <a:rPr b="0" sz="1000">
                <a:solidFill>
                  <a:srgbClr val="E2E8F0"/>
                </a:solidFill>
              </a:rPr>
              <a:t>Calibrated at strict 5% False Positive Rate (FPR = 0.05) on normal validation split.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b="1" sz="1000">
                <a:solidFill>
                  <a:srgbClr val="10B981"/>
                </a:solidFill>
              </a:rPr>
              <a:t>Precision: 92.8%: </a:t>
            </a:r>
            <a:r>
              <a:rPr b="0" sz="1000">
                <a:solidFill>
                  <a:srgbClr val="E2E8F0"/>
                </a:solidFill>
              </a:rPr>
              <a:t>When SonicMAE flags a machine defect, the alarm is genuine in 93 out of 100 industrial events.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b="1" sz="1000">
                <a:solidFill>
                  <a:srgbClr val="10B981"/>
                </a:solidFill>
              </a:rPr>
              <a:t>Recall (Sensitivity): 91.4%: </a:t>
            </a:r>
            <a:r>
              <a:rPr b="0" sz="1000">
                <a:solidFill>
                  <a:srgbClr val="E2E8F0"/>
                </a:solidFill>
              </a:rPr>
              <a:t>Detects over 91% of zero-day anomalies without ever observing defect samples during training.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b="1" sz="1000">
                <a:solidFill>
                  <a:srgbClr val="06B6D4"/>
                </a:solidFill>
              </a:rPr>
              <a:t>Specificity: 95.0%: </a:t>
            </a:r>
            <a:r>
              <a:rPr b="0" sz="1000">
                <a:solidFill>
                  <a:srgbClr val="E2E8F0"/>
                </a:solidFill>
              </a:rPr>
              <a:t>Guarantees 95% of nominal operation sounds pass smoothly without false plant shutdowns.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b="1" sz="1000">
                <a:solidFill>
                  <a:srgbClr val="06B6D4"/>
                </a:solidFill>
              </a:rPr>
              <a:t>F1-Score: 92.1%: </a:t>
            </a:r>
            <a:r>
              <a:rPr b="0" sz="1000">
                <a:solidFill>
                  <a:srgbClr val="E2E8F0"/>
                </a:solidFill>
              </a:rPr>
              <a:t>Demonstrates well-balanced performance on highly imbalanced factory acoustic streams.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1874519"/>
            <a:ext cx="5166360" cy="4480560"/>
          </a:xfrm>
          <a:prstGeom prst="roundRect">
            <a:avLst/>
          </a:prstGeom>
          <a:solidFill>
            <a:srgbClr val="182136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19672" y="2039111"/>
            <a:ext cx="4800600" cy="416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F59E0B"/>
                </a:solidFill>
              </a:defRPr>
            </a:pPr>
            <a:r>
              <a:t>ADVERSARIAL FACTORY NOISE STRESS-TEST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b="1" sz="1000">
                <a:solidFill>
                  <a:srgbClr val="F59E0B"/>
                </a:solidFill>
              </a:rPr>
              <a:t>Noise Injection Protocol: </a:t>
            </a:r>
            <a:r>
              <a:rPr b="0" sz="1000">
                <a:solidFill>
                  <a:srgbClr val="E2E8F0"/>
                </a:solidFill>
              </a:rPr>
              <a:t>Evaluated against additive white Gaussian noise and actual factory plant room babble (-6 dB to +12 dB SNR).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b="1" sz="1000">
                <a:solidFill>
                  <a:srgbClr val="10B981"/>
                </a:solidFill>
              </a:rPr>
              <a:t>Clean Condition (+6 dB SNR): </a:t>
            </a:r>
            <a:r>
              <a:rPr b="0" sz="1000">
                <a:solidFill>
                  <a:srgbClr val="E2E8F0"/>
                </a:solidFill>
              </a:rPr>
              <a:t>SonicMAE achieves 94.8% ROC-AUC (Standard Autoencoder: 82.1%).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b="1" sz="1000">
                <a:solidFill>
                  <a:srgbClr val="10B981"/>
                </a:solidFill>
              </a:rPr>
              <a:t>Mild Noise Condition (0 dB SNR): </a:t>
            </a:r>
            <a:r>
              <a:rPr b="0" sz="1000">
                <a:solidFill>
                  <a:srgbClr val="E2E8F0"/>
                </a:solidFill>
              </a:rPr>
              <a:t>SonicMAE achieves 90.6% ROC-AUC (Standard Autoencoder: 71.4%).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b="1" sz="1000">
                <a:solidFill>
                  <a:srgbClr val="F59E0B"/>
                </a:solidFill>
              </a:rPr>
              <a:t>Harsh Factory Floor (-6 dB SNR): </a:t>
            </a:r>
            <a:r>
              <a:rPr b="0" sz="1000">
                <a:solidFill>
                  <a:srgbClr val="E2E8F0"/>
                </a:solidFill>
              </a:rPr>
              <a:t>SonicMAE maintains 86.2% ROC-AUC, whereas standard autoencoder collapses completely to 58.7%.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b="1" sz="1000">
                <a:solidFill>
                  <a:srgbClr val="06B6D4"/>
                </a:solidFill>
              </a:rPr>
              <a:t>CSPS Resilience Proof: </a:t>
            </a:r>
            <a:r>
              <a:rPr b="0" sz="1000">
                <a:solidFill>
                  <a:srgbClr val="E2E8F0"/>
                </a:solidFill>
              </a:rPr>
              <a:t>Empirical evidence proving Coherent Phase Scrambler prevents models from overfitting to static microphone acoustics.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SLIDE 13  |  CRITICAL RETROSPECTIVE &amp; FUTURE HORIZONS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Limitations, Future Scope, and Project 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Honest evaluation of operational boundaries, technological evolution, and final defense synthesis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10698480" cy="18288"/>
          </a:xfrm>
          <a:prstGeom prst="rect">
            <a:avLst/>
          </a:prstGeom>
          <a:solidFill>
            <a:srgbClr val="334155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874519"/>
            <a:ext cx="3328416" cy="4480560"/>
          </a:xfrm>
          <a:prstGeom prst="roundRect">
            <a:avLst/>
          </a:prstGeom>
          <a:solidFill>
            <a:srgbClr val="182136"/>
          </a:solidFill>
          <a:ln w="1524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39111"/>
            <a:ext cx="2962656" cy="416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F43F5E"/>
                </a:solidFill>
              </a:defRPr>
            </a:pPr>
            <a:r>
              <a:t>1. CURRENT LIMITATIONS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b="1" sz="1000">
                <a:solidFill>
                  <a:srgbClr val="F43F5E"/>
                </a:solidFill>
              </a:rPr>
              <a:t>Griffin-Lim Resynthesis Delay: </a:t>
            </a:r>
            <a:r>
              <a:rPr b="0" sz="1000">
                <a:solidFill>
                  <a:srgbClr val="E2E8F0"/>
                </a:solidFill>
              </a:rPr>
              <a:t>Iterative phase reconstruction requires ~30 iterations (35-45 ms), which is acceptable for on-demand inspection but not continuous microsecond streaming.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b="1" sz="1000">
                <a:solidFill>
                  <a:srgbClr val="F43F5E"/>
                </a:solidFill>
              </a:rPr>
              <a:t>Acoustic Room Echo: </a:t>
            </a:r>
            <a:r>
              <a:rPr b="0" sz="1000">
                <a:solidFill>
                  <a:srgbClr val="E2E8F0"/>
                </a:solidFill>
              </a:rPr>
              <a:t>Severe multi-path acoustic reflections in massive steel hangars require 3-minute initial calibration to prevent room reverb false alarms.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b="1" sz="1000">
                <a:solidFill>
                  <a:srgbClr val="F43F5E"/>
                </a:solidFill>
              </a:rPr>
              <a:t>Single Sensor Baseline: </a:t>
            </a:r>
            <a:r>
              <a:rPr b="0" sz="1000">
                <a:solidFill>
                  <a:srgbClr val="E2E8F0"/>
                </a:solidFill>
              </a:rPr>
              <a:t>Current validation focuses on single-channel microphones rather than distributed 8-channel microphone arrays.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16552" y="1874519"/>
            <a:ext cx="3328416" cy="4480560"/>
          </a:xfrm>
          <a:prstGeom prst="roundRect">
            <a:avLst/>
          </a:prstGeom>
          <a:solidFill>
            <a:srgbClr val="182136"/>
          </a:solidFill>
          <a:ln w="1524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99432" y="2039111"/>
            <a:ext cx="2962656" cy="416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3B82F6"/>
                </a:solidFill>
              </a:defRPr>
            </a:pPr>
            <a:r>
              <a:t>2. FUTURE SCOPE &amp; EXTENSIONS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b="1" sz="1000">
                <a:solidFill>
                  <a:srgbClr val="3B82F6"/>
                </a:solidFill>
              </a:rPr>
              <a:t>Neural Vocoder Integration: </a:t>
            </a:r>
            <a:r>
              <a:rPr b="0" sz="1000">
                <a:solidFill>
                  <a:srgbClr val="E2E8F0"/>
                </a:solidFill>
              </a:rPr>
              <a:t>Replace Griffin-Lim with lightweight HiFi-GAN or SoundStream vocoders for sub-3ms instantaneous residual audio resynthesis.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b="1" sz="1000">
                <a:solidFill>
                  <a:srgbClr val="06B6D4"/>
                </a:solidFill>
              </a:rPr>
              <a:t>Multi-Modal Sensor Fusion: </a:t>
            </a:r>
            <a:r>
              <a:rPr b="0" sz="1000">
                <a:solidFill>
                  <a:srgbClr val="E2E8F0"/>
                </a:solidFill>
              </a:rPr>
              <a:t>Combine airborne audio microphones with contact triaxial piezoelectric accelerometers for unified vibration-acoustic diagnosis.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b="1" sz="1000">
                <a:solidFill>
                  <a:srgbClr val="06B6D4"/>
                </a:solidFill>
              </a:rPr>
              <a:t>Federated Edge Learning: </a:t>
            </a:r>
            <a:r>
              <a:rPr b="0" sz="1000">
                <a:solidFill>
                  <a:srgbClr val="E2E8F0"/>
                </a:solidFill>
              </a:rPr>
              <a:t>Deploy federated training across decentralized factory units (NVIDIA Jetson / Raspberry Pi 4) to protect industrial intellectual property.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01584" y="1874519"/>
            <a:ext cx="3328416" cy="4480560"/>
          </a:xfrm>
          <a:prstGeom prst="roundRect">
            <a:avLst/>
          </a:prstGeom>
          <a:solidFill>
            <a:srgbClr val="182136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84464" y="2039111"/>
            <a:ext cx="2962656" cy="416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10B981"/>
                </a:solidFill>
              </a:defRPr>
            </a:pPr>
            <a:r>
              <a:t>3. DEFENSE CONCLUSION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b="1" sz="1000">
                <a:solidFill>
                  <a:srgbClr val="10B981"/>
                </a:solidFill>
              </a:rPr>
              <a:t>Core Achievement: </a:t>
            </a:r>
            <a:r>
              <a:rPr b="0" sz="1000">
                <a:solidFill>
                  <a:srgbClr val="E2E8F0"/>
                </a:solidFill>
              </a:rPr>
              <a:t>Successfully formulated, trained, and benchmarked SonicMAE: an unsupervised acoustic masked autoencoder achieving 93.2% mean ROC-AUC.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b="1" sz="1000">
                <a:solidFill>
                  <a:srgbClr val="10B981"/>
                </a:solidFill>
              </a:rPr>
              <a:t>Key Scientific Finding: </a:t>
            </a:r>
            <a:r>
              <a:rPr b="0" sz="1000">
                <a:solidFill>
                  <a:srgbClr val="E2E8F0"/>
                </a:solidFill>
              </a:rPr>
              <a:t>CSPS phase scrambling and Conformer self-attention bridge the critical divide between acoustic physics and self-supervised deep learning.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b="1" sz="1000">
                <a:solidFill>
                  <a:srgbClr val="10B981"/>
                </a:solidFill>
              </a:rPr>
              <a:t>Operational Transformation: </a:t>
            </a:r>
            <a:r>
              <a:rPr b="0" sz="1000">
                <a:solidFill>
                  <a:srgbClr val="E2E8F0"/>
                </a:solidFill>
              </a:rPr>
              <a:t>Converts deep learning from an opaque 'black-box' score into an auditable, listenable, production-ready predictive maintenance system.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